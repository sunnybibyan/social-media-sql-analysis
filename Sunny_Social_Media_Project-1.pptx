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DM Sans" pitchFamily="2" charset="0"/>
      <p:regular r:id="rId19"/>
    </p:embeddedFont>
    <p:embeddedFont>
      <p:font typeface="DM Sans Bold" charset="0"/>
      <p:regular r:id="rId20"/>
    </p:embeddedFont>
    <p:embeddedFont>
      <p:font typeface="Georgia Pro" panose="02040502050405020303" pitchFamily="18" charset="0"/>
      <p:regular r:id="rId21"/>
    </p:embeddedFont>
    <p:embeddedFont>
      <p:font typeface="Georgia Pro Bold" panose="02040802050405020203" charset="0"/>
      <p:regular r:id="rId22"/>
    </p:embeddedFont>
    <p:embeddedFont>
      <p:font typeface="Georgia Pro Italics" panose="020B0604020202020204" charset="0"/>
      <p:regular r:id="rId23"/>
    </p:embeddedFont>
    <p:embeddedFont>
      <p:font typeface="Georgia Pro Light" panose="02040302050405020303" pitchFamily="18"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0" d="100"/>
          <a:sy n="40" d="100"/>
        </p:scale>
        <p:origin x="884"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378" b="-378"/>
              </a:stretch>
            </a:blipFill>
          </p:spPr>
        </p:sp>
      </p:grpSp>
      <p:grpSp>
        <p:nvGrpSpPr>
          <p:cNvPr id="4" name="Group 4"/>
          <p:cNvGrpSpPr/>
          <p:nvPr/>
        </p:nvGrpSpPr>
        <p:grpSpPr>
          <a:xfrm>
            <a:off x="9670499" y="1562100"/>
            <a:ext cx="7950751" cy="2105751"/>
            <a:chOff x="0" y="0"/>
            <a:chExt cx="10601001" cy="2807668"/>
          </a:xfrm>
        </p:grpSpPr>
        <p:sp>
          <p:nvSpPr>
            <p:cNvPr id="5" name="TextBox 5"/>
            <p:cNvSpPr txBox="1"/>
            <p:nvPr/>
          </p:nvSpPr>
          <p:spPr>
            <a:xfrm>
              <a:off x="0" y="85725"/>
              <a:ext cx="10601001" cy="1675365"/>
            </a:xfrm>
            <a:prstGeom prst="rect">
              <a:avLst/>
            </a:prstGeom>
          </p:spPr>
          <p:txBody>
            <a:bodyPr lIns="0" tIns="0" rIns="0" bIns="0" rtlCol="0" anchor="t">
              <a:spAutoFit/>
            </a:bodyPr>
            <a:lstStyle/>
            <a:p>
              <a:pPr marL="0" lvl="0" indent="0" algn="ctr">
                <a:lnSpc>
                  <a:spcPts val="4750"/>
                </a:lnSpc>
              </a:pPr>
              <a:r>
                <a:rPr lang="en-US" sz="4750">
                  <a:solidFill>
                    <a:srgbClr val="000000"/>
                  </a:solidFill>
                  <a:latin typeface="Georgia Pro"/>
                  <a:ea typeface="Georgia Pro"/>
                  <a:cs typeface="Georgia Pro"/>
                  <a:sym typeface="Georgia Pro"/>
                </a:rPr>
                <a:t>Instagram User Engagement &amp; Growth Analysis</a:t>
              </a:r>
            </a:p>
          </p:txBody>
        </p:sp>
        <p:sp>
          <p:nvSpPr>
            <p:cNvPr id="6" name="TextBox 6"/>
            <p:cNvSpPr txBox="1"/>
            <p:nvPr/>
          </p:nvSpPr>
          <p:spPr>
            <a:xfrm>
              <a:off x="1418901" y="2012013"/>
              <a:ext cx="9172670" cy="795655"/>
            </a:xfrm>
            <a:prstGeom prst="rect">
              <a:avLst/>
            </a:prstGeom>
          </p:spPr>
          <p:txBody>
            <a:bodyPr lIns="0" tIns="0" rIns="0" bIns="0" rtlCol="0" anchor="t">
              <a:spAutoFit/>
            </a:bodyPr>
            <a:lstStyle/>
            <a:p>
              <a:pPr marL="0" lvl="0" indent="0" algn="l">
                <a:lnSpc>
                  <a:spcPts val="5039"/>
                </a:lnSpc>
              </a:pPr>
              <a:r>
                <a:rPr lang="en-US" sz="3599">
                  <a:solidFill>
                    <a:srgbClr val="000000"/>
                  </a:solidFill>
                  <a:latin typeface="DM Sans"/>
                  <a:ea typeface="DM Sans"/>
                  <a:cs typeface="DM Sans"/>
                  <a:sym typeface="DM Sans"/>
                </a:rPr>
                <a:t>SQL-Based Marketing Insights</a:t>
              </a:r>
            </a:p>
          </p:txBody>
        </p:sp>
      </p:grpSp>
      <p:grpSp>
        <p:nvGrpSpPr>
          <p:cNvPr id="7" name="Group 7"/>
          <p:cNvGrpSpPr/>
          <p:nvPr/>
        </p:nvGrpSpPr>
        <p:grpSpPr>
          <a:xfrm>
            <a:off x="9670499" y="8813864"/>
            <a:ext cx="5743575" cy="888872"/>
            <a:chOff x="0" y="0"/>
            <a:chExt cx="7658100" cy="1185162"/>
          </a:xfrm>
        </p:grpSpPr>
        <p:sp>
          <p:nvSpPr>
            <p:cNvPr id="8" name="TextBox 8"/>
            <p:cNvSpPr txBox="1"/>
            <p:nvPr/>
          </p:nvSpPr>
          <p:spPr>
            <a:xfrm>
              <a:off x="0" y="691344"/>
              <a:ext cx="7658100" cy="493818"/>
            </a:xfrm>
            <a:prstGeom prst="rect">
              <a:avLst/>
            </a:prstGeom>
          </p:spPr>
          <p:txBody>
            <a:bodyPr lIns="0" tIns="0" rIns="0" bIns="0" rtlCol="0" anchor="t">
              <a:spAutoFit/>
            </a:bodyPr>
            <a:lstStyle/>
            <a:p>
              <a:pPr marL="0" lvl="0" indent="0" algn="l">
                <a:lnSpc>
                  <a:spcPts val="3080"/>
                </a:lnSpc>
                <a:spcBef>
                  <a:spcPct val="0"/>
                </a:spcBef>
              </a:pPr>
              <a:r>
                <a:rPr lang="en-US" sz="2200">
                  <a:solidFill>
                    <a:srgbClr val="000000"/>
                  </a:solidFill>
                  <a:latin typeface="DM Sans"/>
                  <a:ea typeface="DM Sans"/>
                  <a:cs typeface="DM Sans"/>
                  <a:sym typeface="DM Sans"/>
                </a:rPr>
                <a:t>Sunny, Data Analyst</a:t>
              </a:r>
            </a:p>
          </p:txBody>
        </p:sp>
        <p:sp>
          <p:nvSpPr>
            <p:cNvPr id="9" name="TextBox 9"/>
            <p:cNvSpPr txBox="1"/>
            <p:nvPr/>
          </p:nvSpPr>
          <p:spPr>
            <a:xfrm>
              <a:off x="0" y="-47625"/>
              <a:ext cx="7658100" cy="569172"/>
            </a:xfrm>
            <a:prstGeom prst="rect">
              <a:avLst/>
            </a:prstGeom>
          </p:spPr>
          <p:txBody>
            <a:bodyPr lIns="0" tIns="0" rIns="0" bIns="0" rtlCol="0" anchor="t">
              <a:spAutoFit/>
            </a:bodyPr>
            <a:lstStyle/>
            <a:p>
              <a:pPr marL="0" lvl="0" indent="0" algn="l">
                <a:lnSpc>
                  <a:spcPts val="3640"/>
                </a:lnSpc>
                <a:spcBef>
                  <a:spcPct val="0"/>
                </a:spcBef>
              </a:pPr>
              <a:r>
                <a:rPr lang="en-US" sz="2600" b="1">
                  <a:solidFill>
                    <a:srgbClr val="000000"/>
                  </a:solidFill>
                  <a:latin typeface="DM Sans Bold"/>
                  <a:ea typeface="DM Sans Bold"/>
                  <a:cs typeface="DM Sans Bold"/>
                  <a:sym typeface="DM Sans Bold"/>
                </a:rPr>
                <a:t>PRESENTED BY</a:t>
              </a:r>
            </a:p>
          </p:txBody>
        </p:sp>
      </p:grpSp>
      <p:sp>
        <p:nvSpPr>
          <p:cNvPr id="10" name="TextBox 10"/>
          <p:cNvSpPr txBox="1"/>
          <p:nvPr/>
        </p:nvSpPr>
        <p:spPr>
          <a:xfrm>
            <a:off x="10744200" y="3828962"/>
            <a:ext cx="6459944" cy="459746"/>
          </a:xfrm>
          <a:prstGeom prst="rect">
            <a:avLst/>
          </a:prstGeom>
        </p:spPr>
        <p:txBody>
          <a:bodyPr lIns="0" tIns="0" rIns="0" bIns="0" rtlCol="0" anchor="t">
            <a:spAutoFit/>
          </a:bodyPr>
          <a:lstStyle/>
          <a:p>
            <a:pPr algn="ctr">
              <a:lnSpc>
                <a:spcPts val="3520"/>
              </a:lnSpc>
              <a:spcBef>
                <a:spcPct val="0"/>
              </a:spcBef>
            </a:pPr>
            <a:r>
              <a:rPr lang="en-US" sz="3200">
                <a:solidFill>
                  <a:srgbClr val="000000"/>
                </a:solidFill>
                <a:latin typeface="DM Sans"/>
                <a:ea typeface="DM Sans"/>
                <a:cs typeface="DM Sans"/>
                <a:sym typeface="DM Sans"/>
              </a:rPr>
              <a:t>Tool Used: MySQL</a:t>
            </a:r>
          </a:p>
        </p:txBody>
      </p:sp>
      <p:sp>
        <p:nvSpPr>
          <p:cNvPr id="11" name="TextBox 11"/>
          <p:cNvSpPr txBox="1"/>
          <p:nvPr/>
        </p:nvSpPr>
        <p:spPr>
          <a:xfrm>
            <a:off x="9670499" y="9712261"/>
            <a:ext cx="2636268" cy="282039"/>
          </a:xfrm>
          <a:prstGeom prst="rect">
            <a:avLst/>
          </a:prstGeom>
        </p:spPr>
        <p:txBody>
          <a:bodyPr lIns="0" tIns="0" rIns="0" bIns="0" rtlCol="0" anchor="t">
            <a:spAutoFit/>
          </a:bodyPr>
          <a:lstStyle/>
          <a:p>
            <a:pPr algn="l">
              <a:lnSpc>
                <a:spcPts val="2153"/>
              </a:lnSpc>
              <a:spcBef>
                <a:spcPct val="0"/>
              </a:spcBef>
            </a:pPr>
            <a:r>
              <a:rPr lang="en-US" sz="1957">
                <a:solidFill>
                  <a:srgbClr val="000000"/>
                </a:solidFill>
                <a:latin typeface="Georgia Pro Light"/>
                <a:ea typeface="Georgia Pro Light"/>
                <a:cs typeface="Georgia Pro Light"/>
                <a:sym typeface="Georgia Pro Light"/>
              </a:rPr>
              <a:t>13-DEC-2025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1028700" y="1028700"/>
            <a:ext cx="8115300" cy="8099925"/>
            <a:chOff x="0" y="0"/>
            <a:chExt cx="10820400" cy="10799900"/>
          </a:xfrm>
        </p:grpSpPr>
        <p:sp>
          <p:nvSpPr>
            <p:cNvPr id="5" name="TextBox 5"/>
            <p:cNvSpPr txBox="1"/>
            <p:nvPr/>
          </p:nvSpPr>
          <p:spPr>
            <a:xfrm>
              <a:off x="0" y="47625"/>
              <a:ext cx="10820400" cy="1130088"/>
            </a:xfrm>
            <a:prstGeom prst="rect">
              <a:avLst/>
            </a:prstGeom>
          </p:spPr>
          <p:txBody>
            <a:bodyPr lIns="0" tIns="0" rIns="0" bIns="0" rtlCol="0" anchor="t">
              <a:spAutoFit/>
            </a:bodyPr>
            <a:lstStyle/>
            <a:p>
              <a:pPr marL="0" lvl="0" indent="0" algn="l">
                <a:lnSpc>
                  <a:spcPts val="6379"/>
                </a:lnSpc>
              </a:pPr>
              <a:r>
                <a:rPr lang="en-US" sz="5799">
                  <a:solidFill>
                    <a:srgbClr val="000000"/>
                  </a:solidFill>
                  <a:latin typeface="Georgia Pro"/>
                  <a:ea typeface="Georgia Pro"/>
                  <a:cs typeface="Georgia Pro"/>
                  <a:sym typeface="Georgia Pro"/>
                </a:rPr>
                <a:t>Introduction</a:t>
              </a:r>
            </a:p>
          </p:txBody>
        </p:sp>
        <p:sp>
          <p:nvSpPr>
            <p:cNvPr id="6" name="TextBox 6"/>
            <p:cNvSpPr txBox="1"/>
            <p:nvPr/>
          </p:nvSpPr>
          <p:spPr>
            <a:xfrm>
              <a:off x="0" y="2286312"/>
              <a:ext cx="10196557" cy="8513588"/>
            </a:xfrm>
            <a:prstGeom prst="rect">
              <a:avLst/>
            </a:prstGeom>
          </p:spPr>
          <p:txBody>
            <a:bodyPr lIns="0" tIns="0" rIns="0" bIns="0" rtlCol="0" anchor="t">
              <a:spAutoFit/>
            </a:bodyPr>
            <a:lstStyle/>
            <a:p>
              <a:pPr marL="0" lvl="0" indent="0" algn="l">
                <a:lnSpc>
                  <a:spcPts val="3616"/>
                </a:lnSpc>
              </a:pPr>
              <a:r>
                <a:rPr lang="en-US" sz="2583">
                  <a:solidFill>
                    <a:srgbClr val="000000"/>
                  </a:solidFill>
                  <a:latin typeface="Georgia Pro"/>
                  <a:ea typeface="Georgia Pro"/>
                  <a:cs typeface="Georgia Pro"/>
                  <a:sym typeface="Georgia Pro"/>
                </a:rPr>
                <a:t>In today’s digital ecosystem, user engagement plays a critical role in driving platform growth, retention, and monetization.</a:t>
              </a:r>
            </a:p>
            <a:p>
              <a:pPr marL="0" lvl="0" indent="0" algn="l">
                <a:lnSpc>
                  <a:spcPts val="3616"/>
                </a:lnSpc>
              </a:pPr>
              <a:r>
                <a:rPr lang="en-US" sz="2583">
                  <a:solidFill>
                    <a:srgbClr val="000000"/>
                  </a:solidFill>
                  <a:latin typeface="Georgia Pro"/>
                  <a:ea typeface="Georgia Pro"/>
                  <a:cs typeface="Georgia Pro"/>
                  <a:sym typeface="Georgia Pro"/>
                </a:rPr>
                <a:t> This project focuses on analyzing user behavior and engagement data from a social media platform to uncover actionable insights that can support data-driven decision-making.</a:t>
              </a:r>
            </a:p>
            <a:p>
              <a:pPr marL="0" lvl="0" indent="0" algn="l">
                <a:lnSpc>
                  <a:spcPts val="3616"/>
                </a:lnSpc>
              </a:pPr>
              <a:r>
                <a:rPr lang="en-US" sz="2583">
                  <a:solidFill>
                    <a:srgbClr val="000000"/>
                  </a:solidFill>
                  <a:latin typeface="Georgia Pro"/>
                  <a:ea typeface="Georgia Pro"/>
                  <a:cs typeface="Georgia Pro"/>
                  <a:sym typeface="Georgia Pro"/>
                </a:rPr>
                <a:t>By leveraging SQL-based analysis, this study evaluates user activity, engagement patterns, content performance, and social interactions to identify high-value users, engagement opportunities, and optimization areas for marketing and platform strategy.</a:t>
              </a:r>
            </a:p>
            <a:p>
              <a:pPr marL="0" lvl="0" indent="0" algn="l">
                <a:lnSpc>
                  <a:spcPts val="3616"/>
                </a:lnSpc>
              </a:pPr>
              <a:endParaRPr lang="en-US" sz="2583">
                <a:solidFill>
                  <a:srgbClr val="000000"/>
                </a:solidFill>
                <a:latin typeface="Georgia Pro"/>
                <a:ea typeface="Georgia Pro"/>
                <a:cs typeface="Georgia Pro"/>
                <a:sym typeface="Georgia Pr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76325"/>
            <a:ext cx="16954500" cy="835665"/>
          </a:xfrm>
          <a:prstGeom prst="rect">
            <a:avLst/>
          </a:prstGeom>
        </p:spPr>
        <p:txBody>
          <a:bodyPr lIns="0" tIns="0" rIns="0" bIns="0" rtlCol="0" anchor="t">
            <a:spAutoFit/>
          </a:bodyPr>
          <a:lstStyle/>
          <a:p>
            <a:pPr marL="0" lvl="0" indent="0" algn="l">
              <a:lnSpc>
                <a:spcPts val="6380"/>
              </a:lnSpc>
              <a:spcBef>
                <a:spcPct val="0"/>
              </a:spcBef>
            </a:pPr>
            <a:r>
              <a:rPr lang="en-US" sz="5800">
                <a:solidFill>
                  <a:srgbClr val="000000"/>
                </a:solidFill>
                <a:latin typeface="Georgia Pro"/>
                <a:ea typeface="Georgia Pro"/>
                <a:cs typeface="Georgia Pro"/>
                <a:sym typeface="Georgia Pro"/>
              </a:rPr>
              <a:t>Problem Statement &amp; Objectives</a:t>
            </a:r>
          </a:p>
        </p:txBody>
      </p:sp>
      <p:grpSp>
        <p:nvGrpSpPr>
          <p:cNvPr id="3" name="Group 3"/>
          <p:cNvGrpSpPr/>
          <p:nvPr/>
        </p:nvGrpSpPr>
        <p:grpSpPr>
          <a:xfrm>
            <a:off x="16824544" y="8838298"/>
            <a:ext cx="796706" cy="781952"/>
            <a:chOff x="0" y="0"/>
            <a:chExt cx="685800" cy="673100"/>
          </a:xfrm>
        </p:grpSpPr>
        <p:sp>
          <p:nvSpPr>
            <p:cNvPr id="4" name="Freeform 4"/>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323232"/>
            </a:solidFill>
          </p:spPr>
        </p:sp>
        <p:sp>
          <p:nvSpPr>
            <p:cNvPr id="5" name="TextBox 5"/>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sp>
        <p:nvSpPr>
          <p:cNvPr id="6" name="TextBox 6"/>
          <p:cNvSpPr txBox="1"/>
          <p:nvPr/>
        </p:nvSpPr>
        <p:spPr>
          <a:xfrm>
            <a:off x="1028700" y="3129036"/>
            <a:ext cx="5466592" cy="501650"/>
          </a:xfrm>
          <a:prstGeom prst="rect">
            <a:avLst/>
          </a:prstGeom>
        </p:spPr>
        <p:txBody>
          <a:bodyPr lIns="0" tIns="0" rIns="0" bIns="0" rtlCol="0" anchor="t">
            <a:spAutoFit/>
          </a:bodyPr>
          <a:lstStyle/>
          <a:p>
            <a:pPr algn="l">
              <a:lnSpc>
                <a:spcPts val="3850"/>
              </a:lnSpc>
              <a:spcBef>
                <a:spcPct val="0"/>
              </a:spcBef>
            </a:pPr>
            <a:r>
              <a:rPr lang="en-US" sz="3500">
                <a:solidFill>
                  <a:srgbClr val="000000"/>
                </a:solidFill>
                <a:latin typeface="Georgia Pro"/>
                <a:ea typeface="Georgia Pro"/>
                <a:cs typeface="Georgia Pro"/>
                <a:sym typeface="Georgia Pro"/>
              </a:rPr>
              <a:t>Problem Statement</a:t>
            </a:r>
          </a:p>
        </p:txBody>
      </p:sp>
      <p:sp>
        <p:nvSpPr>
          <p:cNvPr id="7" name="TextBox 7"/>
          <p:cNvSpPr txBox="1"/>
          <p:nvPr/>
        </p:nvSpPr>
        <p:spPr>
          <a:xfrm>
            <a:off x="1028700" y="4024475"/>
            <a:ext cx="9919709" cy="1678305"/>
          </a:xfrm>
          <a:prstGeom prst="rect">
            <a:avLst/>
          </a:prstGeom>
        </p:spPr>
        <p:txBody>
          <a:bodyPr lIns="0" tIns="0" rIns="0" bIns="0" rtlCol="0" anchor="t">
            <a:spAutoFit/>
          </a:bodyPr>
          <a:lstStyle/>
          <a:p>
            <a:pPr algn="l">
              <a:lnSpc>
                <a:spcPts val="2640"/>
              </a:lnSpc>
              <a:spcBef>
                <a:spcPct val="0"/>
              </a:spcBef>
            </a:pPr>
            <a:r>
              <a:rPr lang="en-US" sz="2400">
                <a:solidFill>
                  <a:srgbClr val="000000"/>
                </a:solidFill>
                <a:latin typeface="Georgia Pro"/>
                <a:ea typeface="Georgia Pro"/>
                <a:cs typeface="Georgia Pro"/>
                <a:sym typeface="Georgia Pro"/>
              </a:rPr>
              <a:t>You are hired as a Data Analyst at Meta to collaborate with the Marketing Team. The goal is to leverage Instagram’s user data to design targeted marketing strategies that increase user engagement, retention, and acquisition by extracting actionable insights from user behavior and engagement patterns.</a:t>
            </a:r>
          </a:p>
        </p:txBody>
      </p:sp>
      <p:sp>
        <p:nvSpPr>
          <p:cNvPr id="8" name="TextBox 8"/>
          <p:cNvSpPr txBox="1"/>
          <p:nvPr/>
        </p:nvSpPr>
        <p:spPr>
          <a:xfrm>
            <a:off x="1028700" y="6441715"/>
            <a:ext cx="5466592" cy="501650"/>
          </a:xfrm>
          <a:prstGeom prst="rect">
            <a:avLst/>
          </a:prstGeom>
        </p:spPr>
        <p:txBody>
          <a:bodyPr lIns="0" tIns="0" rIns="0" bIns="0" rtlCol="0" anchor="t">
            <a:spAutoFit/>
          </a:bodyPr>
          <a:lstStyle/>
          <a:p>
            <a:pPr algn="l">
              <a:lnSpc>
                <a:spcPts val="3850"/>
              </a:lnSpc>
              <a:spcBef>
                <a:spcPct val="0"/>
              </a:spcBef>
            </a:pPr>
            <a:r>
              <a:rPr lang="en-US" sz="3500">
                <a:solidFill>
                  <a:srgbClr val="000000"/>
                </a:solidFill>
                <a:latin typeface="Georgia Pro"/>
                <a:ea typeface="Georgia Pro"/>
                <a:cs typeface="Georgia Pro"/>
                <a:sym typeface="Georgia Pro"/>
              </a:rPr>
              <a:t>Objectives</a:t>
            </a:r>
          </a:p>
        </p:txBody>
      </p:sp>
      <p:sp>
        <p:nvSpPr>
          <p:cNvPr id="9" name="TextBox 9"/>
          <p:cNvSpPr txBox="1"/>
          <p:nvPr/>
        </p:nvSpPr>
        <p:spPr>
          <a:xfrm>
            <a:off x="1028700" y="7333890"/>
            <a:ext cx="6459736" cy="1678305"/>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Analyze user activity and engagement</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Identify loyal, inactive, and high-value users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Evaluate content and hashtag performance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Support data-driven marketing decisions</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50" y="0"/>
            <a:ext cx="10679568" cy="10287000"/>
            <a:chOff x="0" y="0"/>
            <a:chExt cx="1229949" cy="1184737"/>
          </a:xfrm>
        </p:grpSpPr>
        <p:sp>
          <p:nvSpPr>
            <p:cNvPr id="3" name="Freeform 3"/>
            <p:cNvSpPr/>
            <p:nvPr/>
          </p:nvSpPr>
          <p:spPr>
            <a:xfrm>
              <a:off x="0" y="0"/>
              <a:ext cx="1229949" cy="1184737"/>
            </a:xfrm>
            <a:custGeom>
              <a:avLst/>
              <a:gdLst/>
              <a:ahLst/>
              <a:cxnLst/>
              <a:rect l="l" t="t" r="r" b="b"/>
              <a:pathLst>
                <a:path w="1229949" h="1184737">
                  <a:moveTo>
                    <a:pt x="0" y="0"/>
                  </a:moveTo>
                  <a:lnTo>
                    <a:pt x="1229949" y="0"/>
                  </a:lnTo>
                  <a:lnTo>
                    <a:pt x="1229949" y="1184737"/>
                  </a:lnTo>
                  <a:lnTo>
                    <a:pt x="0" y="1184737"/>
                  </a:lnTo>
                  <a:close/>
                </a:path>
              </a:pathLst>
            </a:custGeom>
            <a:blipFill>
              <a:blip r:embed="rId2"/>
              <a:stretch>
                <a:fillRect l="-3587" r="-3587"/>
              </a:stretch>
            </a:blipFill>
          </p:spPr>
        </p:sp>
      </p:grpSp>
      <p:sp>
        <p:nvSpPr>
          <p:cNvPr id="4" name="TextBox 4"/>
          <p:cNvSpPr txBox="1"/>
          <p:nvPr/>
        </p:nvSpPr>
        <p:spPr>
          <a:xfrm>
            <a:off x="11020871" y="1133475"/>
            <a:ext cx="6238429" cy="775970"/>
          </a:xfrm>
          <a:prstGeom prst="rect">
            <a:avLst/>
          </a:prstGeom>
        </p:spPr>
        <p:txBody>
          <a:bodyPr lIns="0" tIns="0" rIns="0" bIns="0" rtlCol="0" anchor="t">
            <a:spAutoFit/>
          </a:bodyPr>
          <a:lstStyle/>
          <a:p>
            <a:pPr marL="0" lvl="0" indent="0" algn="l">
              <a:lnSpc>
                <a:spcPts val="5799"/>
              </a:lnSpc>
            </a:pPr>
            <a:r>
              <a:rPr lang="en-US" sz="5799">
                <a:solidFill>
                  <a:srgbClr val="000000"/>
                </a:solidFill>
                <a:latin typeface="Georgia Pro"/>
                <a:ea typeface="Georgia Pro"/>
                <a:cs typeface="Georgia Pro"/>
                <a:sym typeface="Georgia Pro"/>
              </a:rPr>
              <a:t>Data Overview</a:t>
            </a:r>
          </a:p>
        </p:txBody>
      </p:sp>
      <p:sp>
        <p:nvSpPr>
          <p:cNvPr id="5" name="TextBox 5"/>
          <p:cNvSpPr txBox="1"/>
          <p:nvPr/>
        </p:nvSpPr>
        <p:spPr>
          <a:xfrm>
            <a:off x="11074669" y="3147060"/>
            <a:ext cx="6184631" cy="4011930"/>
          </a:xfrm>
          <a:prstGeom prst="rect">
            <a:avLst/>
          </a:prstGeom>
        </p:spPr>
        <p:txBody>
          <a:bodyPr lIns="0" tIns="0" rIns="0" bIns="0" rtlCol="0" anchor="t">
            <a:spAutoFit/>
          </a:bodyPr>
          <a:lstStyle/>
          <a:p>
            <a:pPr algn="l">
              <a:lnSpc>
                <a:spcPts val="2640"/>
              </a:lnSpc>
            </a:pPr>
            <a:r>
              <a:rPr lang="en-US" sz="2400">
                <a:solidFill>
                  <a:srgbClr val="000000"/>
                </a:solidFill>
                <a:latin typeface="Georgia Pro"/>
                <a:ea typeface="Georgia Pro"/>
                <a:cs typeface="Georgia Pro"/>
                <a:sym typeface="Georgia Pro"/>
              </a:rPr>
              <a:t>The dataset represents core Instagram user interactions and content activity.</a:t>
            </a:r>
          </a:p>
          <a:p>
            <a:pPr algn="l">
              <a:lnSpc>
                <a:spcPts val="2640"/>
              </a:lnSpc>
            </a:pPr>
            <a:endParaRPr lang="en-US" sz="2400">
              <a:solidFill>
                <a:srgbClr val="000000"/>
              </a:solidFill>
              <a:latin typeface="Georgia Pro"/>
              <a:ea typeface="Georgia Pro"/>
              <a:cs typeface="Georgia Pro"/>
              <a:sym typeface="Georgia Pro"/>
            </a:endParaRPr>
          </a:p>
          <a:p>
            <a:pPr algn="l">
              <a:lnSpc>
                <a:spcPts val="2640"/>
              </a:lnSpc>
            </a:pPr>
            <a:r>
              <a:rPr lang="en-US" sz="2400">
                <a:solidFill>
                  <a:srgbClr val="000000"/>
                </a:solidFill>
                <a:latin typeface="Georgia Pro"/>
                <a:ea typeface="Georgia Pro"/>
                <a:cs typeface="Georgia Pro"/>
                <a:sym typeface="Georgia Pro"/>
              </a:rPr>
              <a:t>Key Tables Used</a:t>
            </a:r>
          </a:p>
          <a:p>
            <a:pPr algn="l">
              <a:lnSpc>
                <a:spcPts val="2640"/>
              </a:lnSpc>
              <a:spcBef>
                <a:spcPct val="0"/>
              </a:spcBef>
            </a:pPr>
            <a:endParaRPr lang="en-US" sz="2400">
              <a:solidFill>
                <a:srgbClr val="000000"/>
              </a:solidFill>
              <a:latin typeface="Georgia Pro"/>
              <a:ea typeface="Georgia Pro"/>
              <a:cs typeface="Georgia Pro"/>
              <a:sym typeface="Georgia Pro"/>
            </a:endParaRP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Users – User profiles &amp; account creation</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Photos – Posts &amp; upload timestamps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Likes &amp; Comments – Engagement signals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Follows – Social relationships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Tags &amp; Photo_Tags – Hashtag analysis</a:t>
            </a:r>
          </a:p>
          <a:p>
            <a:pPr algn="l">
              <a:lnSpc>
                <a:spcPts val="2640"/>
              </a:lnSpc>
              <a:spcBef>
                <a:spcPct val="0"/>
              </a:spcBef>
            </a:pPr>
            <a:endParaRPr lang="en-US" sz="2400">
              <a:solidFill>
                <a:srgbClr val="000000"/>
              </a:solidFill>
              <a:latin typeface="Georgia Pro"/>
              <a:ea typeface="Georgia Pro"/>
              <a:cs typeface="Georgia Pro"/>
              <a:sym typeface="Georgia Pro"/>
            </a:endParaRP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76325"/>
            <a:ext cx="15795844" cy="835660"/>
          </a:xfrm>
          <a:prstGeom prst="rect">
            <a:avLst/>
          </a:prstGeom>
        </p:spPr>
        <p:txBody>
          <a:bodyPr lIns="0" tIns="0" rIns="0" bIns="0" rtlCol="0" anchor="t">
            <a:spAutoFit/>
          </a:bodyPr>
          <a:lstStyle/>
          <a:p>
            <a:pPr marL="0" lvl="0" indent="0" algn="l">
              <a:lnSpc>
                <a:spcPts val="6379"/>
              </a:lnSpc>
              <a:spcBef>
                <a:spcPct val="0"/>
              </a:spcBef>
            </a:pPr>
            <a:r>
              <a:rPr lang="en-US" sz="5799">
                <a:solidFill>
                  <a:srgbClr val="000000"/>
                </a:solidFill>
                <a:latin typeface="Georgia Pro"/>
                <a:ea typeface="Georgia Pro"/>
                <a:cs typeface="Georgia Pro"/>
                <a:sym typeface="Georgia Pro"/>
              </a:rPr>
              <a:t>Methodology</a:t>
            </a:r>
          </a:p>
        </p:txBody>
      </p:sp>
      <p:grpSp>
        <p:nvGrpSpPr>
          <p:cNvPr id="3" name="Group 3"/>
          <p:cNvGrpSpPr/>
          <p:nvPr/>
        </p:nvGrpSpPr>
        <p:grpSpPr>
          <a:xfrm>
            <a:off x="16824544" y="8838298"/>
            <a:ext cx="796706" cy="781952"/>
            <a:chOff x="0" y="0"/>
            <a:chExt cx="685800" cy="673100"/>
          </a:xfrm>
        </p:grpSpPr>
        <p:sp>
          <p:nvSpPr>
            <p:cNvPr id="4" name="Freeform 4"/>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D3DCE6"/>
            </a:solidFill>
          </p:spPr>
        </p:sp>
        <p:sp>
          <p:nvSpPr>
            <p:cNvPr id="5" name="TextBox 5"/>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sp>
        <p:nvSpPr>
          <p:cNvPr id="6" name="TextBox 6"/>
          <p:cNvSpPr txBox="1"/>
          <p:nvPr/>
        </p:nvSpPr>
        <p:spPr>
          <a:xfrm>
            <a:off x="1028700" y="2830246"/>
            <a:ext cx="11992433" cy="4177665"/>
          </a:xfrm>
          <a:prstGeom prst="rect">
            <a:avLst/>
          </a:prstGeom>
        </p:spPr>
        <p:txBody>
          <a:bodyPr lIns="0" tIns="0" rIns="0" bIns="0" rtlCol="0" anchor="t">
            <a:spAutoFit/>
          </a:bodyPr>
          <a:lstStyle/>
          <a:p>
            <a:pPr marL="518160" lvl="1" indent="-259080" algn="just">
              <a:lnSpc>
                <a:spcPts val="3359"/>
              </a:lnSpc>
              <a:buFont typeface="Arial"/>
              <a:buChar char="•"/>
            </a:pPr>
            <a:r>
              <a:rPr lang="en-US" sz="2400">
                <a:solidFill>
                  <a:srgbClr val="000000"/>
                </a:solidFill>
                <a:latin typeface="Georgia Pro"/>
                <a:ea typeface="Georgia Pro"/>
                <a:cs typeface="Georgia Pro"/>
                <a:sym typeface="Georgia Pro"/>
              </a:rPr>
              <a:t>Extracted and analyzed Instagram user data using SQL in MySQL.</a:t>
            </a:r>
          </a:p>
          <a:p>
            <a:pPr marL="518160" lvl="1" indent="-259080" algn="just">
              <a:lnSpc>
                <a:spcPts val="3359"/>
              </a:lnSpc>
              <a:spcBef>
                <a:spcPct val="0"/>
              </a:spcBef>
              <a:buFont typeface="Arial"/>
              <a:buChar char="•"/>
            </a:pPr>
            <a:r>
              <a:rPr lang="en-US" sz="2400">
                <a:solidFill>
                  <a:srgbClr val="000000"/>
                </a:solidFill>
                <a:latin typeface="Georgia Pro"/>
                <a:ea typeface="Georgia Pro"/>
                <a:cs typeface="Georgia Pro"/>
                <a:sym typeface="Georgia Pro"/>
              </a:rPr>
              <a:t>Cleaned and validated data to handle null values, duplicates, and integrity issues.</a:t>
            </a:r>
          </a:p>
          <a:p>
            <a:pPr marL="518160" lvl="1" indent="-259080" algn="just">
              <a:lnSpc>
                <a:spcPts val="3359"/>
              </a:lnSpc>
              <a:spcBef>
                <a:spcPct val="0"/>
              </a:spcBef>
              <a:buFont typeface="Arial"/>
              <a:buChar char="•"/>
            </a:pPr>
            <a:r>
              <a:rPr lang="en-US" sz="2400">
                <a:solidFill>
                  <a:srgbClr val="000000"/>
                </a:solidFill>
                <a:latin typeface="Georgia Pro"/>
                <a:ea typeface="Georgia Pro"/>
                <a:cs typeface="Georgia Pro"/>
                <a:sym typeface="Georgia Pro"/>
              </a:rPr>
              <a:t>Aggregated user activities such as posts, likes, comments, and follows to measure engagement.</a:t>
            </a:r>
          </a:p>
          <a:p>
            <a:pPr marL="518160" lvl="1" indent="-259080" algn="just">
              <a:lnSpc>
                <a:spcPts val="3359"/>
              </a:lnSpc>
              <a:spcBef>
                <a:spcPct val="0"/>
              </a:spcBef>
              <a:buFont typeface="Arial"/>
              <a:buChar char="•"/>
            </a:pPr>
            <a:r>
              <a:rPr lang="en-US" sz="2400">
                <a:solidFill>
                  <a:srgbClr val="000000"/>
                </a:solidFill>
                <a:latin typeface="Georgia Pro"/>
                <a:ea typeface="Georgia Pro"/>
                <a:cs typeface="Georgia Pro"/>
                <a:sym typeface="Georgia Pro"/>
              </a:rPr>
              <a:t>Calculated key metrics including activity levels, engagement rates, and follower counts.</a:t>
            </a:r>
          </a:p>
          <a:p>
            <a:pPr marL="518160" lvl="1" indent="-259080" algn="just">
              <a:lnSpc>
                <a:spcPts val="3359"/>
              </a:lnSpc>
              <a:spcBef>
                <a:spcPct val="0"/>
              </a:spcBef>
              <a:buFont typeface="Arial"/>
              <a:buChar char="•"/>
            </a:pPr>
            <a:r>
              <a:rPr lang="en-US" sz="2400">
                <a:solidFill>
                  <a:srgbClr val="000000"/>
                </a:solidFill>
                <a:latin typeface="Georgia Pro"/>
                <a:ea typeface="Georgia Pro"/>
                <a:cs typeface="Georgia Pro"/>
                <a:sym typeface="Georgia Pro"/>
              </a:rPr>
              <a:t>Segmented users based on engagement and activity behavior.</a:t>
            </a:r>
          </a:p>
          <a:p>
            <a:pPr marL="518160" lvl="1" indent="-259080" algn="just">
              <a:lnSpc>
                <a:spcPts val="3359"/>
              </a:lnSpc>
              <a:spcBef>
                <a:spcPct val="0"/>
              </a:spcBef>
              <a:buFont typeface="Arial"/>
              <a:buChar char="•"/>
            </a:pPr>
            <a:r>
              <a:rPr lang="en-US" sz="2400">
                <a:solidFill>
                  <a:srgbClr val="000000"/>
                </a:solidFill>
                <a:latin typeface="Georgia Pro"/>
                <a:ea typeface="Georgia Pro"/>
                <a:cs typeface="Georgia Pro"/>
                <a:sym typeface="Georgia Pro"/>
              </a:rPr>
              <a:t>Derived business insights and recommendations to support marketing and growth strategies.</a:t>
            </a:r>
          </a:p>
          <a:p>
            <a:pPr algn="just">
              <a:lnSpc>
                <a:spcPts val="3359"/>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29636" y="-38100"/>
            <a:ext cx="8658364" cy="10325100"/>
            <a:chOff x="0" y="0"/>
            <a:chExt cx="1341407" cy="1819346"/>
          </a:xfrm>
        </p:grpSpPr>
        <p:sp>
          <p:nvSpPr>
            <p:cNvPr id="3" name="Freeform 3"/>
            <p:cNvSpPr/>
            <p:nvPr/>
          </p:nvSpPr>
          <p:spPr>
            <a:xfrm>
              <a:off x="0" y="0"/>
              <a:ext cx="1341407" cy="1819346"/>
            </a:xfrm>
            <a:custGeom>
              <a:avLst/>
              <a:gdLst/>
              <a:ahLst/>
              <a:cxnLst/>
              <a:rect l="l" t="t" r="r" b="b"/>
              <a:pathLst>
                <a:path w="1341407" h="1819346">
                  <a:moveTo>
                    <a:pt x="0" y="0"/>
                  </a:moveTo>
                  <a:lnTo>
                    <a:pt x="1341407" y="0"/>
                  </a:lnTo>
                  <a:lnTo>
                    <a:pt x="1341407" y="1819346"/>
                  </a:lnTo>
                  <a:lnTo>
                    <a:pt x="0" y="1819346"/>
                  </a:lnTo>
                  <a:close/>
                </a:path>
              </a:pathLst>
            </a:custGeom>
            <a:blipFill>
              <a:blip r:embed="rId2"/>
              <a:stretch>
                <a:fillRect l="-63180" r="-63180"/>
              </a:stretch>
            </a:blipFill>
          </p:spPr>
        </p:sp>
      </p:grpSp>
      <p:sp>
        <p:nvSpPr>
          <p:cNvPr id="4" name="TextBox 4"/>
          <p:cNvSpPr txBox="1"/>
          <p:nvPr/>
        </p:nvSpPr>
        <p:spPr>
          <a:xfrm>
            <a:off x="1028700" y="1095720"/>
            <a:ext cx="9414487" cy="835665"/>
          </a:xfrm>
          <a:prstGeom prst="rect">
            <a:avLst/>
          </a:prstGeom>
        </p:spPr>
        <p:txBody>
          <a:bodyPr lIns="0" tIns="0" rIns="0" bIns="0" rtlCol="0" anchor="t">
            <a:spAutoFit/>
          </a:bodyPr>
          <a:lstStyle/>
          <a:p>
            <a:pPr marL="0" lvl="0" indent="0" algn="l">
              <a:lnSpc>
                <a:spcPts val="6380"/>
              </a:lnSpc>
            </a:pPr>
            <a:r>
              <a:rPr lang="en-US" sz="5800">
                <a:solidFill>
                  <a:srgbClr val="000000"/>
                </a:solidFill>
                <a:latin typeface="Georgia Pro"/>
                <a:ea typeface="Georgia Pro"/>
                <a:cs typeface="Georgia Pro"/>
                <a:sym typeface="Georgia Pro"/>
              </a:rPr>
              <a:t>User Activity Distribution</a:t>
            </a:r>
          </a:p>
        </p:txBody>
      </p:sp>
      <p:sp>
        <p:nvSpPr>
          <p:cNvPr id="5" name="TextBox 5"/>
          <p:cNvSpPr txBox="1"/>
          <p:nvPr/>
        </p:nvSpPr>
        <p:spPr>
          <a:xfrm>
            <a:off x="1028700" y="3455670"/>
            <a:ext cx="7838787" cy="2021205"/>
          </a:xfrm>
          <a:prstGeom prst="rect">
            <a:avLst/>
          </a:prstGeom>
        </p:spPr>
        <p:txBody>
          <a:bodyPr lIns="0" tIns="0" rIns="0" bIns="0" rtlCol="0" anchor="t">
            <a:spAutoFit/>
          </a:bodyPr>
          <a:lstStyle/>
          <a:p>
            <a:pPr marL="518155" lvl="1" indent="-259078" algn="l">
              <a:lnSpc>
                <a:spcPts val="2639"/>
              </a:lnSpc>
              <a:spcBef>
                <a:spcPct val="0"/>
              </a:spcBef>
              <a:buFont typeface="Arial"/>
              <a:buChar char="•"/>
            </a:pPr>
            <a:r>
              <a:rPr lang="en-US" sz="2399">
                <a:solidFill>
                  <a:srgbClr val="000000"/>
                </a:solidFill>
                <a:latin typeface="Georgia Pro"/>
                <a:ea typeface="Georgia Pro"/>
                <a:cs typeface="Georgia Pro"/>
                <a:sym typeface="Georgia Pro"/>
              </a:rPr>
              <a:t>Majority of users are highly active</a:t>
            </a:r>
          </a:p>
          <a:p>
            <a:pPr marL="518155" lvl="1" indent="-259078" algn="l">
              <a:lnSpc>
                <a:spcPts val="2639"/>
              </a:lnSpc>
              <a:spcBef>
                <a:spcPct val="0"/>
              </a:spcBef>
              <a:buFont typeface="Arial"/>
              <a:buChar char="•"/>
            </a:pPr>
            <a:r>
              <a:rPr lang="en-US" sz="2399">
                <a:solidFill>
                  <a:srgbClr val="000000"/>
                </a:solidFill>
                <a:latin typeface="Georgia Pro"/>
                <a:ea typeface="Georgia Pro"/>
                <a:cs typeface="Georgia Pro"/>
                <a:sym typeface="Georgia Pro"/>
              </a:rPr>
              <a:t>Small inactive segment offers re-engagement opportunity</a:t>
            </a:r>
          </a:p>
          <a:p>
            <a:pPr marL="518155" lvl="1" indent="-259078" algn="l">
              <a:lnSpc>
                <a:spcPts val="2639"/>
              </a:lnSpc>
              <a:spcBef>
                <a:spcPct val="0"/>
              </a:spcBef>
              <a:buFont typeface="Arial"/>
              <a:buChar char="•"/>
            </a:pPr>
            <a:r>
              <a:rPr lang="en-US" sz="2399">
                <a:solidFill>
                  <a:srgbClr val="000000"/>
                </a:solidFill>
                <a:latin typeface="Georgia Pro"/>
                <a:ea typeface="Georgia Pro"/>
                <a:cs typeface="Georgia Pro"/>
                <a:sym typeface="Georgia Pro"/>
              </a:rPr>
              <a:t>Engagement is skewed toward power users</a:t>
            </a:r>
          </a:p>
          <a:p>
            <a:pPr algn="l">
              <a:lnSpc>
                <a:spcPts val="2639"/>
              </a:lnSpc>
              <a:spcBef>
                <a:spcPct val="0"/>
              </a:spcBef>
            </a:pPr>
            <a:r>
              <a:rPr lang="en-US" sz="2399">
                <a:solidFill>
                  <a:srgbClr val="000000"/>
                </a:solidFill>
                <a:latin typeface="Georgia Pro"/>
                <a:ea typeface="Georgia Pro"/>
                <a:cs typeface="Georgia Pro"/>
                <a:sym typeface="Georgia Pro"/>
              </a:rPr>
              <a:t>Opportunity: Target inactive &amp; mid-level users</a:t>
            </a:r>
          </a:p>
          <a:p>
            <a:pPr algn="l">
              <a:lnSpc>
                <a:spcPts val="2639"/>
              </a:lnSpc>
              <a:spcBef>
                <a:spcPct val="0"/>
              </a:spcBef>
            </a:pPr>
            <a:endParaRPr lang="en-US" sz="2399">
              <a:solidFill>
                <a:srgbClr val="000000"/>
              </a:solidFill>
              <a:latin typeface="Georgia Pro"/>
              <a:ea typeface="Georgia Pro"/>
              <a:cs typeface="Georgia Pro"/>
              <a:sym typeface="Georgia Pro"/>
            </a:endParaRPr>
          </a:p>
        </p:txBody>
      </p:sp>
      <p:sp>
        <p:nvSpPr>
          <p:cNvPr id="6" name="TextBox 6"/>
          <p:cNvSpPr txBox="1"/>
          <p:nvPr/>
        </p:nvSpPr>
        <p:spPr>
          <a:xfrm>
            <a:off x="1028700" y="5715000"/>
            <a:ext cx="7838787" cy="501651"/>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7" name="TextBox 7"/>
          <p:cNvSpPr txBox="1"/>
          <p:nvPr/>
        </p:nvSpPr>
        <p:spPr>
          <a:xfrm>
            <a:off x="1028700" y="6535479"/>
            <a:ext cx="8115300" cy="2011680"/>
          </a:xfrm>
          <a:prstGeom prst="rect">
            <a:avLst/>
          </a:prstGeom>
        </p:spPr>
        <p:txBody>
          <a:bodyPr lIns="0" tIns="0" rIns="0" bIns="0" rtlCol="0" anchor="t">
            <a:spAutoFit/>
          </a:bodyPr>
          <a:lstStyle/>
          <a:p>
            <a:pPr marL="518162" lvl="1" indent="-259081" algn="l">
              <a:lnSpc>
                <a:spcPts val="2640"/>
              </a:lnSpc>
              <a:spcBef>
                <a:spcPct val="0"/>
              </a:spcBef>
              <a:buFont typeface="Arial"/>
              <a:buChar char="•"/>
            </a:pPr>
            <a:r>
              <a:rPr lang="en-US" sz="2400">
                <a:solidFill>
                  <a:srgbClr val="000000"/>
                </a:solidFill>
                <a:latin typeface="Georgia Pro"/>
                <a:ea typeface="Georgia Pro"/>
                <a:cs typeface="Georgia Pro"/>
                <a:sym typeface="Georgia Pro"/>
              </a:rPr>
              <a:t>Retain power users: Badges, early access, rewards</a:t>
            </a:r>
          </a:p>
          <a:p>
            <a:pPr marL="518162" lvl="1" indent="-259081" algn="l">
              <a:lnSpc>
                <a:spcPts val="2640"/>
              </a:lnSpc>
              <a:spcBef>
                <a:spcPct val="0"/>
              </a:spcBef>
              <a:buFont typeface="Arial"/>
              <a:buChar char="•"/>
            </a:pPr>
            <a:r>
              <a:rPr lang="en-US" sz="2400">
                <a:solidFill>
                  <a:srgbClr val="000000"/>
                </a:solidFill>
                <a:latin typeface="Georgia Pro"/>
                <a:ea typeface="Georgia Pro"/>
                <a:cs typeface="Georgia Pro"/>
                <a:sym typeface="Georgia Pro"/>
              </a:rPr>
              <a:t>Re-engage inactive users: Personalized nudges</a:t>
            </a:r>
          </a:p>
          <a:p>
            <a:pPr marL="518162" lvl="1" indent="-259081" algn="l">
              <a:lnSpc>
                <a:spcPts val="2640"/>
              </a:lnSpc>
              <a:spcBef>
                <a:spcPct val="0"/>
              </a:spcBef>
              <a:buFont typeface="Arial"/>
              <a:buChar char="•"/>
            </a:pPr>
            <a:r>
              <a:rPr lang="en-US" sz="2400">
                <a:solidFill>
                  <a:srgbClr val="000000"/>
                </a:solidFill>
                <a:latin typeface="Georgia Pro"/>
                <a:ea typeface="Georgia Pro"/>
                <a:cs typeface="Georgia Pro"/>
                <a:sym typeface="Georgia Pro"/>
              </a:rPr>
              <a:t>Grow mid-level users: Content &amp; creator recommendations</a:t>
            </a:r>
          </a:p>
          <a:p>
            <a:pPr marL="518162" lvl="1" indent="-259081" algn="l">
              <a:lnSpc>
                <a:spcPts val="2640"/>
              </a:lnSpc>
              <a:spcBef>
                <a:spcPct val="0"/>
              </a:spcBef>
              <a:buFont typeface="Arial"/>
              <a:buChar char="•"/>
            </a:pPr>
            <a:r>
              <a:rPr lang="en-US" sz="2400">
                <a:solidFill>
                  <a:srgbClr val="000000"/>
                </a:solidFill>
                <a:latin typeface="Georgia Pro"/>
                <a:ea typeface="Georgia Pro"/>
                <a:cs typeface="Georgia Pro"/>
                <a:sym typeface="Georgia Pro"/>
              </a:rPr>
              <a:t>Monitor movement across segments regularly</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8" name="TextBox 8"/>
          <p:cNvSpPr txBox="1"/>
          <p:nvPr/>
        </p:nvSpPr>
        <p:spPr>
          <a:xfrm>
            <a:off x="1028700" y="2735904"/>
            <a:ext cx="2437507" cy="501651"/>
          </a:xfrm>
          <a:prstGeom prst="rect">
            <a:avLst/>
          </a:prstGeom>
        </p:spPr>
        <p:txBody>
          <a:bodyPr lIns="0" tIns="0" rIns="0" bIns="0" rtlCol="0" anchor="t">
            <a:spAutoFit/>
          </a:bodyPr>
          <a:lstStyle/>
          <a:p>
            <a:pPr algn="ctr">
              <a:lnSpc>
                <a:spcPts val="3850"/>
              </a:lnSpc>
              <a:spcBef>
                <a:spcPct val="0"/>
              </a:spcBef>
            </a:pPr>
            <a:r>
              <a:rPr lang="en-US" sz="3500">
                <a:solidFill>
                  <a:srgbClr val="000000"/>
                </a:solidFill>
                <a:latin typeface="Georgia Pro"/>
                <a:ea typeface="Georgia Pro"/>
                <a:cs typeface="Georgia Pro"/>
                <a:sym typeface="Georgia Pro"/>
              </a:rPr>
              <a:t>Key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31637" y="4441290"/>
            <a:ext cx="7827663" cy="4817010"/>
            <a:chOff x="0" y="0"/>
            <a:chExt cx="1207473" cy="743058"/>
          </a:xfrm>
        </p:grpSpPr>
        <p:sp>
          <p:nvSpPr>
            <p:cNvPr id="3" name="Freeform 3"/>
            <p:cNvSpPr/>
            <p:nvPr/>
          </p:nvSpPr>
          <p:spPr>
            <a:xfrm>
              <a:off x="0" y="0"/>
              <a:ext cx="1207473" cy="743058"/>
            </a:xfrm>
            <a:custGeom>
              <a:avLst/>
              <a:gdLst/>
              <a:ahLst/>
              <a:cxnLst/>
              <a:rect l="l" t="t" r="r" b="b"/>
              <a:pathLst>
                <a:path w="1207473" h="743058">
                  <a:moveTo>
                    <a:pt x="0" y="0"/>
                  </a:moveTo>
                  <a:lnTo>
                    <a:pt x="1207473" y="0"/>
                  </a:lnTo>
                  <a:lnTo>
                    <a:pt x="1207473" y="743058"/>
                  </a:lnTo>
                  <a:lnTo>
                    <a:pt x="0" y="743058"/>
                  </a:lnTo>
                  <a:close/>
                </a:path>
              </a:pathLst>
            </a:custGeom>
            <a:blipFill>
              <a:blip r:embed="rId2"/>
              <a:stretch>
                <a:fillRect l="-1140" r="-1140"/>
              </a:stretch>
            </a:blipFill>
          </p:spPr>
        </p:sp>
      </p:grpSp>
      <p:sp>
        <p:nvSpPr>
          <p:cNvPr id="4" name="TextBox 4"/>
          <p:cNvSpPr txBox="1"/>
          <p:nvPr/>
        </p:nvSpPr>
        <p:spPr>
          <a:xfrm>
            <a:off x="1028700" y="1133475"/>
            <a:ext cx="16230600" cy="775970"/>
          </a:xfrm>
          <a:prstGeom prst="rect">
            <a:avLst/>
          </a:prstGeom>
        </p:spPr>
        <p:txBody>
          <a:bodyPr lIns="0" tIns="0" rIns="0" bIns="0" rtlCol="0" anchor="t">
            <a:spAutoFit/>
          </a:bodyPr>
          <a:lstStyle/>
          <a:p>
            <a:pPr marL="0" lvl="0" indent="0" algn="l">
              <a:lnSpc>
                <a:spcPts val="5799"/>
              </a:lnSpc>
            </a:pPr>
            <a:r>
              <a:rPr lang="en-US" sz="5799">
                <a:solidFill>
                  <a:srgbClr val="000000"/>
                </a:solidFill>
                <a:latin typeface="Georgia Pro"/>
                <a:ea typeface="Georgia Pro"/>
                <a:cs typeface="Georgia Pro"/>
                <a:sym typeface="Georgia Pro"/>
              </a:rPr>
              <a:t>Top Users by Engagement</a:t>
            </a:r>
          </a:p>
        </p:txBody>
      </p:sp>
      <p:sp>
        <p:nvSpPr>
          <p:cNvPr id="5" name="TextBox 5"/>
          <p:cNvSpPr txBox="1"/>
          <p:nvPr/>
        </p:nvSpPr>
        <p:spPr>
          <a:xfrm>
            <a:off x="1028700" y="2745920"/>
            <a:ext cx="4438077" cy="501650"/>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6" name="TextBox 6"/>
          <p:cNvSpPr txBox="1"/>
          <p:nvPr/>
        </p:nvSpPr>
        <p:spPr>
          <a:xfrm>
            <a:off x="1028700" y="3607016"/>
            <a:ext cx="7441702" cy="2011680"/>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Ranked by average engagement per post</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High engagement ≠ high posting volume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Mix of:</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High-impact creators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Consistent performers</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5774669"/>
            <a:ext cx="9515740" cy="501650"/>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8" name="TextBox 8"/>
          <p:cNvSpPr txBox="1"/>
          <p:nvPr/>
        </p:nvSpPr>
        <p:spPr>
          <a:xfrm>
            <a:off x="1028700" y="6668115"/>
            <a:ext cx="7441702" cy="2011680"/>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Prioritize top users for influencer campaigns</a:t>
            </a:r>
          </a:p>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Use high engagement-per-post creators for viral reach</a:t>
            </a:r>
          </a:p>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Long-term partnerships with consistent creators</a:t>
            </a:r>
          </a:p>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Validate engagement quality before scaling</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65246" y="4606097"/>
            <a:ext cx="7994054" cy="4619978"/>
          </a:xfrm>
          <a:custGeom>
            <a:avLst/>
            <a:gdLst/>
            <a:ahLst/>
            <a:cxnLst/>
            <a:rect l="l" t="t" r="r" b="b"/>
            <a:pathLst>
              <a:path w="7994054" h="4619978">
                <a:moveTo>
                  <a:pt x="0" y="0"/>
                </a:moveTo>
                <a:lnTo>
                  <a:pt x="7994054" y="0"/>
                </a:lnTo>
                <a:lnTo>
                  <a:pt x="7994054" y="4619978"/>
                </a:lnTo>
                <a:lnTo>
                  <a:pt x="0" y="4619978"/>
                </a:lnTo>
                <a:lnTo>
                  <a:pt x="0" y="0"/>
                </a:lnTo>
                <a:close/>
              </a:path>
            </a:pathLst>
          </a:custGeom>
          <a:blipFill>
            <a:blip r:embed="rId2"/>
            <a:stretch>
              <a:fillRect r="-3586"/>
            </a:stretch>
          </a:blipFill>
        </p:spPr>
      </p:sp>
      <p:sp>
        <p:nvSpPr>
          <p:cNvPr id="3" name="TextBox 3"/>
          <p:cNvSpPr txBox="1"/>
          <p:nvPr/>
        </p:nvSpPr>
        <p:spPr>
          <a:xfrm>
            <a:off x="1066773" y="1175580"/>
            <a:ext cx="8800008" cy="835660"/>
          </a:xfrm>
          <a:prstGeom prst="rect">
            <a:avLst/>
          </a:prstGeom>
        </p:spPr>
        <p:txBody>
          <a:bodyPr lIns="0" tIns="0" rIns="0" bIns="0" rtlCol="0" anchor="t">
            <a:spAutoFit/>
          </a:bodyPr>
          <a:lstStyle/>
          <a:p>
            <a:pPr marL="0" lvl="0" indent="0" algn="l">
              <a:lnSpc>
                <a:spcPts val="6379"/>
              </a:lnSpc>
            </a:pPr>
            <a:r>
              <a:rPr lang="en-US" sz="5799">
                <a:solidFill>
                  <a:srgbClr val="000000"/>
                </a:solidFill>
                <a:latin typeface="Georgia Pro"/>
                <a:ea typeface="Georgia Pro"/>
                <a:cs typeface="Georgia Pro"/>
                <a:sym typeface="Georgia Pro"/>
              </a:rPr>
              <a:t>Hashtag Performance</a:t>
            </a:r>
          </a:p>
        </p:txBody>
      </p:sp>
      <p:sp>
        <p:nvSpPr>
          <p:cNvPr id="4" name="TextBox 4"/>
          <p:cNvSpPr txBox="1"/>
          <p:nvPr/>
        </p:nvSpPr>
        <p:spPr>
          <a:xfrm>
            <a:off x="1028700" y="2774776"/>
            <a:ext cx="4438077" cy="501650"/>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5" name="TextBox 5"/>
          <p:cNvSpPr txBox="1"/>
          <p:nvPr/>
        </p:nvSpPr>
        <p:spPr>
          <a:xfrm>
            <a:off x="1028700" y="6047106"/>
            <a:ext cx="7426253" cy="501650"/>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6" name="TextBox 6"/>
          <p:cNvSpPr txBox="1"/>
          <p:nvPr/>
        </p:nvSpPr>
        <p:spPr>
          <a:xfrm>
            <a:off x="1028700" y="3507388"/>
            <a:ext cx="7592632" cy="2011680"/>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Top hashtags: #dreamy, #beauty, #stunning, #foodie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High engagement with moderate usage = strong quality</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Average likes per post reflects true content impact</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6935136"/>
            <a:ext cx="6665463" cy="2011680"/>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Align ads with high-performing hashtag themes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Focus on beauty, food, lifestyle content</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Build interest-based targeting using hashtags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Track emerging hashtag trends regularly</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392818" y="4379913"/>
            <a:ext cx="7866482" cy="4878387"/>
          </a:xfrm>
          <a:custGeom>
            <a:avLst/>
            <a:gdLst/>
            <a:ahLst/>
            <a:cxnLst/>
            <a:rect l="l" t="t" r="r" b="b"/>
            <a:pathLst>
              <a:path w="7866482" h="4878387">
                <a:moveTo>
                  <a:pt x="0" y="0"/>
                </a:moveTo>
                <a:lnTo>
                  <a:pt x="7866482" y="0"/>
                </a:lnTo>
                <a:lnTo>
                  <a:pt x="7866482" y="4878387"/>
                </a:lnTo>
                <a:lnTo>
                  <a:pt x="0" y="4878387"/>
                </a:lnTo>
                <a:lnTo>
                  <a:pt x="0" y="0"/>
                </a:lnTo>
                <a:close/>
              </a:path>
            </a:pathLst>
          </a:custGeom>
          <a:blipFill>
            <a:blip r:embed="rId2"/>
            <a:stretch>
              <a:fillRect r="-2663"/>
            </a:stretch>
          </a:blipFill>
        </p:spPr>
      </p:sp>
      <p:sp>
        <p:nvSpPr>
          <p:cNvPr id="3" name="TextBox 3"/>
          <p:cNvSpPr txBox="1"/>
          <p:nvPr/>
        </p:nvSpPr>
        <p:spPr>
          <a:xfrm>
            <a:off x="1028700" y="1125048"/>
            <a:ext cx="12095973" cy="835660"/>
          </a:xfrm>
          <a:prstGeom prst="rect">
            <a:avLst/>
          </a:prstGeom>
        </p:spPr>
        <p:txBody>
          <a:bodyPr lIns="0" tIns="0" rIns="0" bIns="0" rtlCol="0" anchor="t">
            <a:spAutoFit/>
          </a:bodyPr>
          <a:lstStyle/>
          <a:p>
            <a:pPr marL="0" lvl="0" indent="0" algn="l">
              <a:lnSpc>
                <a:spcPts val="6379"/>
              </a:lnSpc>
              <a:spcBef>
                <a:spcPct val="0"/>
              </a:spcBef>
            </a:pPr>
            <a:r>
              <a:rPr lang="en-US" sz="5799">
                <a:solidFill>
                  <a:srgbClr val="000000"/>
                </a:solidFill>
                <a:latin typeface="Georgia Pro"/>
                <a:ea typeface="Georgia Pro"/>
                <a:cs typeface="Georgia Pro"/>
                <a:sym typeface="Georgia Pro"/>
              </a:rPr>
              <a:t>Most Loyal &amp; Valuable Users</a:t>
            </a:r>
          </a:p>
        </p:txBody>
      </p:sp>
      <p:sp>
        <p:nvSpPr>
          <p:cNvPr id="4" name="TextBox 4"/>
          <p:cNvSpPr txBox="1"/>
          <p:nvPr/>
        </p:nvSpPr>
        <p:spPr>
          <a:xfrm>
            <a:off x="1028700" y="2568721"/>
            <a:ext cx="4438077" cy="501651"/>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5" name="TextBox 5"/>
          <p:cNvSpPr txBox="1"/>
          <p:nvPr/>
        </p:nvSpPr>
        <p:spPr>
          <a:xfrm>
            <a:off x="1028700" y="5741988"/>
            <a:ext cx="7426253" cy="501651"/>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6" name="TextBox 6"/>
          <p:cNvSpPr txBox="1"/>
          <p:nvPr/>
        </p:nvSpPr>
        <p:spPr>
          <a:xfrm>
            <a:off x="1028700" y="3396932"/>
            <a:ext cx="7382094" cy="2011681"/>
          </a:xfrm>
          <a:prstGeom prst="rect">
            <a:avLst/>
          </a:prstGeom>
        </p:spPr>
        <p:txBody>
          <a:bodyPr lIns="0" tIns="0" rIns="0" bIns="0" rtlCol="0" anchor="t">
            <a:spAutoFit/>
          </a:bodyPr>
          <a:lstStyle/>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Small user group drives disproportionate engagement</a:t>
            </a:r>
          </a:p>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Engagement driven by content quality, not frequency</a:t>
            </a:r>
          </a:p>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Strong micro-influencer potential</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6716634"/>
            <a:ext cx="7382094" cy="1344931"/>
          </a:xfrm>
          <a:prstGeom prst="rect">
            <a:avLst/>
          </a:prstGeom>
        </p:spPr>
        <p:txBody>
          <a:bodyPr lIns="0" tIns="0" rIns="0" bIns="0" rtlCol="0" anchor="t">
            <a:spAutoFit/>
          </a:bodyPr>
          <a:lstStyle/>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Reward with creator badges &amp; early features</a:t>
            </a:r>
          </a:p>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Enroll in ambassador programs</a:t>
            </a:r>
          </a:p>
          <a:p>
            <a:pPr marL="518181" lvl="1" indent="-259091" algn="l">
              <a:lnSpc>
                <a:spcPts val="2640"/>
              </a:lnSpc>
              <a:spcBef>
                <a:spcPct val="0"/>
              </a:spcBef>
              <a:buFont typeface="Arial"/>
              <a:buChar char="•"/>
            </a:pPr>
            <a:r>
              <a:rPr lang="en-US" sz="2400">
                <a:solidFill>
                  <a:srgbClr val="000000"/>
                </a:solidFill>
                <a:latin typeface="Georgia Pro"/>
                <a:ea typeface="Georgia Pro"/>
                <a:cs typeface="Georgia Pro"/>
                <a:sym typeface="Georgia Pro"/>
              </a:rPr>
              <a:t>Amplify their content for organic reach</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54207" y="4703414"/>
            <a:ext cx="7405093" cy="4554886"/>
            <a:chOff x="0" y="0"/>
            <a:chExt cx="1440256" cy="885904"/>
          </a:xfrm>
        </p:grpSpPr>
        <p:sp>
          <p:nvSpPr>
            <p:cNvPr id="3" name="Freeform 3"/>
            <p:cNvSpPr/>
            <p:nvPr/>
          </p:nvSpPr>
          <p:spPr>
            <a:xfrm>
              <a:off x="0" y="0"/>
              <a:ext cx="1440256" cy="885904"/>
            </a:xfrm>
            <a:custGeom>
              <a:avLst/>
              <a:gdLst/>
              <a:ahLst/>
              <a:cxnLst/>
              <a:rect l="l" t="t" r="r" b="b"/>
              <a:pathLst>
                <a:path w="1440256" h="885904">
                  <a:moveTo>
                    <a:pt x="0" y="0"/>
                  </a:moveTo>
                  <a:lnTo>
                    <a:pt x="1440256" y="0"/>
                  </a:lnTo>
                  <a:lnTo>
                    <a:pt x="1440256" y="885904"/>
                  </a:lnTo>
                  <a:lnTo>
                    <a:pt x="0" y="885904"/>
                  </a:lnTo>
                  <a:close/>
                </a:path>
              </a:pathLst>
            </a:custGeom>
            <a:blipFill>
              <a:blip r:embed="rId2"/>
              <a:stretch>
                <a:fillRect l="-1117" r="-1117"/>
              </a:stretch>
            </a:blipFill>
          </p:spPr>
        </p:sp>
      </p:grpSp>
      <p:sp>
        <p:nvSpPr>
          <p:cNvPr id="4" name="TextBox 4"/>
          <p:cNvSpPr txBox="1"/>
          <p:nvPr/>
        </p:nvSpPr>
        <p:spPr>
          <a:xfrm>
            <a:off x="1028700" y="1076325"/>
            <a:ext cx="15673177" cy="835660"/>
          </a:xfrm>
          <a:prstGeom prst="rect">
            <a:avLst/>
          </a:prstGeom>
        </p:spPr>
        <p:txBody>
          <a:bodyPr lIns="0" tIns="0" rIns="0" bIns="0" rtlCol="0" anchor="t">
            <a:spAutoFit/>
          </a:bodyPr>
          <a:lstStyle/>
          <a:p>
            <a:pPr marL="0" lvl="0" indent="0" algn="l">
              <a:lnSpc>
                <a:spcPts val="6379"/>
              </a:lnSpc>
            </a:pPr>
            <a:r>
              <a:rPr lang="en-US" sz="5799">
                <a:solidFill>
                  <a:srgbClr val="000000"/>
                </a:solidFill>
                <a:latin typeface="Georgia Pro"/>
                <a:ea typeface="Georgia Pro"/>
                <a:cs typeface="Georgia Pro"/>
                <a:sym typeface="Georgia Pro"/>
              </a:rPr>
              <a:t>Inactive User Re-engagement</a:t>
            </a:r>
          </a:p>
        </p:txBody>
      </p:sp>
      <p:sp>
        <p:nvSpPr>
          <p:cNvPr id="5" name="TextBox 5"/>
          <p:cNvSpPr txBox="1"/>
          <p:nvPr/>
        </p:nvSpPr>
        <p:spPr>
          <a:xfrm>
            <a:off x="1028700" y="2753553"/>
            <a:ext cx="4438077" cy="501651"/>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6" name="TextBox 6"/>
          <p:cNvSpPr txBox="1"/>
          <p:nvPr/>
        </p:nvSpPr>
        <p:spPr>
          <a:xfrm>
            <a:off x="1028700" y="5172075"/>
            <a:ext cx="7426253" cy="501651"/>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7" name="TextBox 7"/>
          <p:cNvSpPr txBox="1"/>
          <p:nvPr/>
        </p:nvSpPr>
        <p:spPr>
          <a:xfrm>
            <a:off x="1028700" y="3764052"/>
            <a:ext cx="8481284" cy="1344930"/>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~13% users inactive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High potential to boost engagement &amp; retention</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Even small reactivation = large impact</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8" name="TextBox 8"/>
          <p:cNvSpPr txBox="1"/>
          <p:nvPr/>
        </p:nvSpPr>
        <p:spPr>
          <a:xfrm>
            <a:off x="1028700" y="6322048"/>
            <a:ext cx="8481284" cy="1678305"/>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Personalized content recommendations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Behavior-based notifications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Welcome-back incentives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Low-friction posting experience</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22751" y="4663696"/>
            <a:ext cx="7636549" cy="4594604"/>
          </a:xfrm>
          <a:custGeom>
            <a:avLst/>
            <a:gdLst/>
            <a:ahLst/>
            <a:cxnLst/>
            <a:rect l="l" t="t" r="r" b="b"/>
            <a:pathLst>
              <a:path w="7636549" h="4594604">
                <a:moveTo>
                  <a:pt x="0" y="0"/>
                </a:moveTo>
                <a:lnTo>
                  <a:pt x="7636549" y="0"/>
                </a:lnTo>
                <a:lnTo>
                  <a:pt x="7636549" y="4594604"/>
                </a:lnTo>
                <a:lnTo>
                  <a:pt x="0" y="4594604"/>
                </a:lnTo>
                <a:lnTo>
                  <a:pt x="0" y="0"/>
                </a:lnTo>
                <a:close/>
              </a:path>
            </a:pathLst>
          </a:custGeom>
          <a:blipFill>
            <a:blip r:embed="rId2"/>
            <a:stretch>
              <a:fillRect/>
            </a:stretch>
          </a:blipFill>
        </p:spPr>
      </p:sp>
      <p:sp>
        <p:nvSpPr>
          <p:cNvPr id="3" name="TextBox 3"/>
          <p:cNvSpPr txBox="1"/>
          <p:nvPr/>
        </p:nvSpPr>
        <p:spPr>
          <a:xfrm>
            <a:off x="1028700" y="1076325"/>
            <a:ext cx="13069490" cy="835660"/>
          </a:xfrm>
          <a:prstGeom prst="rect">
            <a:avLst/>
          </a:prstGeom>
        </p:spPr>
        <p:txBody>
          <a:bodyPr lIns="0" tIns="0" rIns="0" bIns="0" rtlCol="0" anchor="t">
            <a:spAutoFit/>
          </a:bodyPr>
          <a:lstStyle/>
          <a:p>
            <a:pPr marL="0" lvl="0" indent="0" algn="l">
              <a:lnSpc>
                <a:spcPts val="6379"/>
              </a:lnSpc>
              <a:spcBef>
                <a:spcPct val="0"/>
              </a:spcBef>
            </a:pPr>
            <a:r>
              <a:rPr lang="en-US" sz="5799">
                <a:solidFill>
                  <a:srgbClr val="000000"/>
                </a:solidFill>
                <a:latin typeface="Georgia Pro"/>
                <a:ea typeface="Georgia Pro"/>
                <a:cs typeface="Georgia Pro"/>
                <a:sym typeface="Georgia Pro"/>
              </a:rPr>
              <a:t>Content Strategy Using Hashtags</a:t>
            </a:r>
          </a:p>
        </p:txBody>
      </p:sp>
      <p:sp>
        <p:nvSpPr>
          <p:cNvPr id="4" name="TextBox 4"/>
          <p:cNvSpPr txBox="1"/>
          <p:nvPr/>
        </p:nvSpPr>
        <p:spPr>
          <a:xfrm>
            <a:off x="1028700" y="3037625"/>
            <a:ext cx="4438077" cy="501651"/>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5" name="TextBox 5"/>
          <p:cNvSpPr txBox="1"/>
          <p:nvPr/>
        </p:nvSpPr>
        <p:spPr>
          <a:xfrm>
            <a:off x="1028700" y="5693059"/>
            <a:ext cx="7426253" cy="501651"/>
          </a:xfrm>
          <a:prstGeom prst="rect">
            <a:avLst/>
          </a:prstGeom>
        </p:spPr>
        <p:txBody>
          <a:bodyPr lIns="0" tIns="0" rIns="0" bIns="0" rtlCol="0" anchor="t">
            <a:spAutoFit/>
          </a:bodyPr>
          <a:lstStyle/>
          <a:p>
            <a:pPr marL="0" lvl="0" indent="0" algn="l">
              <a:lnSpc>
                <a:spcPts val="3850"/>
              </a:lnSpc>
            </a:pPr>
            <a:r>
              <a:rPr lang="en-US" sz="3500">
                <a:solidFill>
                  <a:srgbClr val="000000"/>
                </a:solidFill>
                <a:latin typeface="Georgia Pro"/>
                <a:ea typeface="Georgia Pro"/>
                <a:cs typeface="Georgia Pro"/>
                <a:sym typeface="Georgia Pro"/>
              </a:rPr>
              <a:t>Recommendations</a:t>
            </a:r>
          </a:p>
        </p:txBody>
      </p:sp>
      <p:sp>
        <p:nvSpPr>
          <p:cNvPr id="6" name="TextBox 6"/>
          <p:cNvSpPr txBox="1"/>
          <p:nvPr/>
        </p:nvSpPr>
        <p:spPr>
          <a:xfrm>
            <a:off x="1028700" y="3798570"/>
            <a:ext cx="7138276" cy="1344930"/>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Food, beauty &amp; lifestyle hashtags show 63%+ engagement</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Visual &amp; interest-based content performs best</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6573505"/>
            <a:ext cx="7138276" cy="1011555"/>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Use top hashtags in organic &amp; paid campaigns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Target users already engaging with these themes</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71589" y="4755897"/>
            <a:ext cx="7587711" cy="4502403"/>
          </a:xfrm>
          <a:custGeom>
            <a:avLst/>
            <a:gdLst/>
            <a:ahLst/>
            <a:cxnLst/>
            <a:rect l="l" t="t" r="r" b="b"/>
            <a:pathLst>
              <a:path w="7587711" h="4502403">
                <a:moveTo>
                  <a:pt x="0" y="0"/>
                </a:moveTo>
                <a:lnTo>
                  <a:pt x="7587711" y="0"/>
                </a:lnTo>
                <a:lnTo>
                  <a:pt x="7587711" y="4502403"/>
                </a:lnTo>
                <a:lnTo>
                  <a:pt x="0" y="4502403"/>
                </a:lnTo>
                <a:lnTo>
                  <a:pt x="0" y="0"/>
                </a:lnTo>
                <a:close/>
              </a:path>
            </a:pathLst>
          </a:custGeom>
          <a:blipFill>
            <a:blip r:embed="rId2"/>
            <a:stretch>
              <a:fillRect l="-424" t="-1826"/>
            </a:stretch>
          </a:blipFill>
        </p:spPr>
      </p:sp>
      <p:sp>
        <p:nvSpPr>
          <p:cNvPr id="3" name="TextBox 3"/>
          <p:cNvSpPr txBox="1"/>
          <p:nvPr/>
        </p:nvSpPr>
        <p:spPr>
          <a:xfrm>
            <a:off x="1028700" y="1076325"/>
            <a:ext cx="16230600" cy="835660"/>
          </a:xfrm>
          <a:prstGeom prst="rect">
            <a:avLst/>
          </a:prstGeom>
        </p:spPr>
        <p:txBody>
          <a:bodyPr lIns="0" tIns="0" rIns="0" bIns="0" rtlCol="0" anchor="t">
            <a:spAutoFit/>
          </a:bodyPr>
          <a:lstStyle/>
          <a:p>
            <a:pPr marL="0" lvl="0" indent="0" algn="l">
              <a:lnSpc>
                <a:spcPts val="6379"/>
              </a:lnSpc>
            </a:pPr>
            <a:r>
              <a:rPr lang="en-US" sz="5799">
                <a:solidFill>
                  <a:srgbClr val="000000"/>
                </a:solidFill>
                <a:latin typeface="Georgia Pro"/>
                <a:ea typeface="Georgia Pro"/>
                <a:cs typeface="Georgia Pro"/>
                <a:sym typeface="Georgia Pro"/>
              </a:rPr>
              <a:t>Influencer Marketing Candidates</a:t>
            </a:r>
          </a:p>
        </p:txBody>
      </p:sp>
      <p:sp>
        <p:nvSpPr>
          <p:cNvPr id="4" name="TextBox 4"/>
          <p:cNvSpPr txBox="1"/>
          <p:nvPr/>
        </p:nvSpPr>
        <p:spPr>
          <a:xfrm>
            <a:off x="1028700" y="2885595"/>
            <a:ext cx="4438077" cy="501651"/>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Insights</a:t>
            </a:r>
          </a:p>
        </p:txBody>
      </p:sp>
      <p:sp>
        <p:nvSpPr>
          <p:cNvPr id="5" name="TextBox 5"/>
          <p:cNvSpPr txBox="1"/>
          <p:nvPr/>
        </p:nvSpPr>
        <p:spPr>
          <a:xfrm>
            <a:off x="1028700" y="5548060"/>
            <a:ext cx="7426253" cy="501650"/>
          </a:xfrm>
          <a:prstGeom prst="rect">
            <a:avLst/>
          </a:prstGeom>
        </p:spPr>
        <p:txBody>
          <a:bodyPr lIns="0" tIns="0" rIns="0" bIns="0" rtlCol="0" anchor="t">
            <a:spAutoFit/>
          </a:bodyPr>
          <a:lstStyle/>
          <a:p>
            <a:pPr marL="0" lvl="0" indent="0" algn="l">
              <a:lnSpc>
                <a:spcPts val="3850"/>
              </a:lnSpc>
            </a:pPr>
            <a:r>
              <a:rPr lang="en-US" sz="3500">
                <a:solidFill>
                  <a:srgbClr val="474F5A"/>
                </a:solidFill>
                <a:latin typeface="Georgia Pro"/>
                <a:ea typeface="Georgia Pro"/>
                <a:cs typeface="Georgia Pro"/>
                <a:sym typeface="Georgia Pro"/>
              </a:rPr>
              <a:t>Recommendations</a:t>
            </a:r>
          </a:p>
        </p:txBody>
      </p:sp>
      <p:sp>
        <p:nvSpPr>
          <p:cNvPr id="6" name="TextBox 6"/>
          <p:cNvSpPr txBox="1"/>
          <p:nvPr/>
        </p:nvSpPr>
        <p:spPr>
          <a:xfrm>
            <a:off x="1028700" y="3921666"/>
            <a:ext cx="6709276" cy="1344930"/>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Engagement concentrated among few users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Engagement quality &gt; posting volume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Hashtag-driven themes perform consistently</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6690869"/>
            <a:ext cx="8115300" cy="1344930"/>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Partner with high-engagement creators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Run influencer pilot campaigns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Track performance monthly</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76325"/>
            <a:ext cx="16081882" cy="835660"/>
          </a:xfrm>
          <a:prstGeom prst="rect">
            <a:avLst/>
          </a:prstGeom>
        </p:spPr>
        <p:txBody>
          <a:bodyPr lIns="0" tIns="0" rIns="0" bIns="0" rtlCol="0" anchor="t">
            <a:spAutoFit/>
          </a:bodyPr>
          <a:lstStyle/>
          <a:p>
            <a:pPr marL="0" lvl="0" indent="0" algn="l">
              <a:lnSpc>
                <a:spcPts val="6379"/>
              </a:lnSpc>
            </a:pPr>
            <a:r>
              <a:rPr lang="en-US" sz="5799">
                <a:solidFill>
                  <a:srgbClr val="000000"/>
                </a:solidFill>
                <a:latin typeface="Georgia Pro"/>
                <a:ea typeface="Georgia Pro"/>
                <a:cs typeface="Georgia Pro"/>
                <a:sym typeface="Georgia Pro"/>
              </a:rPr>
              <a:t>User Segmentation for Marketing</a:t>
            </a:r>
          </a:p>
        </p:txBody>
      </p:sp>
      <p:sp>
        <p:nvSpPr>
          <p:cNvPr id="3" name="TextBox 3"/>
          <p:cNvSpPr txBox="1"/>
          <p:nvPr/>
        </p:nvSpPr>
        <p:spPr>
          <a:xfrm>
            <a:off x="1028700" y="2373757"/>
            <a:ext cx="6982554" cy="501650"/>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How Users Are Segmented</a:t>
            </a:r>
          </a:p>
        </p:txBody>
      </p:sp>
      <p:sp>
        <p:nvSpPr>
          <p:cNvPr id="4" name="TextBox 4"/>
          <p:cNvSpPr txBox="1"/>
          <p:nvPr/>
        </p:nvSpPr>
        <p:spPr>
          <a:xfrm>
            <a:off x="1028700" y="4367578"/>
            <a:ext cx="8040941" cy="501650"/>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Key User Segments</a:t>
            </a:r>
          </a:p>
        </p:txBody>
      </p:sp>
      <p:sp>
        <p:nvSpPr>
          <p:cNvPr id="5" name="TextBox 5"/>
          <p:cNvSpPr txBox="1"/>
          <p:nvPr/>
        </p:nvSpPr>
        <p:spPr>
          <a:xfrm>
            <a:off x="1028700" y="7276145"/>
            <a:ext cx="7448269" cy="501650"/>
          </a:xfrm>
          <a:prstGeom prst="rect">
            <a:avLst/>
          </a:prstGeom>
        </p:spPr>
        <p:txBody>
          <a:bodyPr lIns="0" tIns="0" rIns="0" bIns="0" rtlCol="0" anchor="t">
            <a:spAutoFit/>
          </a:bodyPr>
          <a:lstStyle/>
          <a:p>
            <a:pPr algn="l">
              <a:lnSpc>
                <a:spcPts val="3850"/>
              </a:lnSpc>
            </a:pPr>
            <a:r>
              <a:rPr lang="en-US" sz="3500">
                <a:solidFill>
                  <a:srgbClr val="000000"/>
                </a:solidFill>
                <a:latin typeface="Georgia Pro"/>
                <a:ea typeface="Georgia Pro"/>
                <a:cs typeface="Georgia Pro"/>
                <a:sym typeface="Georgia Pro"/>
              </a:rPr>
              <a:t>Why This Matters</a:t>
            </a:r>
          </a:p>
        </p:txBody>
      </p:sp>
      <p:sp>
        <p:nvSpPr>
          <p:cNvPr id="6" name="TextBox 6"/>
          <p:cNvSpPr txBox="1"/>
          <p:nvPr/>
        </p:nvSpPr>
        <p:spPr>
          <a:xfrm>
            <a:off x="1028700" y="3087116"/>
            <a:ext cx="6846094" cy="1011555"/>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Activity Level: Posts, likes, comments made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Engagement Level: Likes &amp; comments received</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7" name="TextBox 7"/>
          <p:cNvSpPr txBox="1"/>
          <p:nvPr/>
        </p:nvSpPr>
        <p:spPr>
          <a:xfrm>
            <a:off x="1028700" y="5256403"/>
            <a:ext cx="7017097" cy="1678305"/>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High Eng + Moderate Activity → Influencers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High Eng + Low Activity → Creator incentives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Low Eng + Low Activity → Discovery campaigns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Inactive → Re-engagement</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8" name="TextBox 8"/>
          <p:cNvSpPr txBox="1"/>
          <p:nvPr/>
        </p:nvSpPr>
        <p:spPr>
          <a:xfrm>
            <a:off x="1028700" y="8111170"/>
            <a:ext cx="6347668" cy="1344930"/>
          </a:xfrm>
          <a:prstGeom prst="rect">
            <a:avLst/>
          </a:prstGeom>
        </p:spPr>
        <p:txBody>
          <a:bodyPr lIns="0" tIns="0" rIns="0" bIns="0" rtlCol="0" anchor="t">
            <a:spAutoFit/>
          </a:bodyPr>
          <a:lstStyle/>
          <a:p>
            <a:pPr marL="518160" lvl="1" indent="-259080" algn="l">
              <a:lnSpc>
                <a:spcPts val="2640"/>
              </a:lnSpc>
              <a:buFont typeface="Arial"/>
              <a:buChar char="•"/>
            </a:pPr>
            <a:r>
              <a:rPr lang="en-US" sz="2400">
                <a:solidFill>
                  <a:srgbClr val="000000"/>
                </a:solidFill>
                <a:latin typeface="Georgia Pro"/>
                <a:ea typeface="Georgia Pro"/>
                <a:cs typeface="Georgia Pro"/>
                <a:sym typeface="Georgia Pro"/>
              </a:rPr>
              <a:t>Enables precise targeting</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Improves engagement &amp; retention</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Supports personalized marketing strategies</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1437" y="1076325"/>
            <a:ext cx="12509153" cy="835660"/>
          </a:xfrm>
          <a:prstGeom prst="rect">
            <a:avLst/>
          </a:prstGeom>
        </p:spPr>
        <p:txBody>
          <a:bodyPr lIns="0" tIns="0" rIns="0" bIns="0" rtlCol="0" anchor="t">
            <a:spAutoFit/>
          </a:bodyPr>
          <a:lstStyle/>
          <a:p>
            <a:pPr algn="ctr">
              <a:lnSpc>
                <a:spcPts val="6379"/>
              </a:lnSpc>
              <a:spcBef>
                <a:spcPct val="0"/>
              </a:spcBef>
            </a:pPr>
            <a:r>
              <a:rPr lang="en-US" sz="5799">
                <a:solidFill>
                  <a:srgbClr val="000000"/>
                </a:solidFill>
                <a:latin typeface="Georgia Pro"/>
                <a:ea typeface="Georgia Pro"/>
                <a:cs typeface="Georgia Pro"/>
                <a:sym typeface="Georgia Pro"/>
              </a:rPr>
              <a:t>Strategic Recommendations Summary</a:t>
            </a:r>
          </a:p>
        </p:txBody>
      </p:sp>
      <p:sp>
        <p:nvSpPr>
          <p:cNvPr id="3" name="TextBox 3"/>
          <p:cNvSpPr txBox="1"/>
          <p:nvPr/>
        </p:nvSpPr>
        <p:spPr>
          <a:xfrm>
            <a:off x="1028700" y="2929034"/>
            <a:ext cx="16230600" cy="3678555"/>
          </a:xfrm>
          <a:prstGeom prst="rect">
            <a:avLst/>
          </a:prstGeom>
        </p:spPr>
        <p:txBody>
          <a:bodyPr lIns="0" tIns="0" rIns="0" bIns="0" rtlCol="0" anchor="t">
            <a:spAutoFit/>
          </a:bodyPr>
          <a:lstStyle/>
          <a:p>
            <a:pPr marL="518160" lvl="1" indent="-259080" algn="l">
              <a:lnSpc>
                <a:spcPts val="2640"/>
              </a:lnSpc>
              <a:buFont typeface="Arial"/>
              <a:buChar char="•"/>
            </a:pPr>
            <a:r>
              <a:rPr lang="en-US" sz="2400" b="1">
                <a:solidFill>
                  <a:srgbClr val="000000"/>
                </a:solidFill>
                <a:latin typeface="Georgia Pro Bold"/>
                <a:ea typeface="Georgia Pro Bold"/>
                <a:cs typeface="Georgia Pro Bold"/>
                <a:sym typeface="Georgia Pro Bold"/>
              </a:rPr>
              <a:t>Retain High-Value Users: </a:t>
            </a:r>
            <a:r>
              <a:rPr lang="en-US" sz="2400">
                <a:solidFill>
                  <a:srgbClr val="000000"/>
                </a:solidFill>
                <a:latin typeface="Georgia Pro"/>
                <a:ea typeface="Georgia Pro"/>
                <a:cs typeface="Georgia Pro"/>
                <a:sym typeface="Georgia Pro"/>
              </a:rPr>
              <a:t> Reward highly engaged users with exclusive features, badges, and early access to strengthen loyalty.</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Leverage Influencers &amp; Creators: </a:t>
            </a:r>
            <a:r>
              <a:rPr lang="en-US" sz="2400">
                <a:solidFill>
                  <a:srgbClr val="000000"/>
                </a:solidFill>
                <a:latin typeface="Georgia Pro"/>
                <a:ea typeface="Georgia Pro"/>
                <a:cs typeface="Georgia Pro"/>
                <a:sym typeface="Georgia Pro"/>
              </a:rPr>
              <a:t>Partner with users having high engagement rates to amplify reach and improve campaign performance.</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Re-Engage Inactive Users: </a:t>
            </a:r>
            <a:r>
              <a:rPr lang="en-US" sz="2400">
                <a:solidFill>
                  <a:srgbClr val="000000"/>
                </a:solidFill>
                <a:latin typeface="Georgia Pro"/>
                <a:ea typeface="Georgia Pro"/>
                <a:cs typeface="Georgia Pro"/>
                <a:sym typeface="Georgia Pro"/>
              </a:rPr>
              <a:t>Use personalized notifications, incentives, and content recommendations to revive participation.</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Optimize Content Strategy:</a:t>
            </a:r>
            <a:r>
              <a:rPr lang="en-US" sz="2400">
                <a:solidFill>
                  <a:srgbClr val="000000"/>
                </a:solidFill>
                <a:latin typeface="Georgia Pro"/>
                <a:ea typeface="Georgia Pro"/>
                <a:cs typeface="Georgia Pro"/>
                <a:sym typeface="Georgia Pro"/>
              </a:rPr>
              <a:t> Focus campaigns around high-performing themes (food, beauty, lifestyle) driven by hashtag insights.</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Data-Driven Marketing: </a:t>
            </a:r>
            <a:r>
              <a:rPr lang="en-US" sz="2400">
                <a:solidFill>
                  <a:srgbClr val="000000"/>
                </a:solidFill>
                <a:latin typeface="Georgia Pro"/>
                <a:ea typeface="Georgia Pro"/>
                <a:cs typeface="Georgia Pro"/>
                <a:sym typeface="Georgia Pro"/>
              </a:rPr>
              <a:t>Continuously monitor engagement metrics and refine targeting, creatives, and budget allocation.</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6856" y="1076325"/>
            <a:ext cx="5361087" cy="835660"/>
          </a:xfrm>
          <a:prstGeom prst="rect">
            <a:avLst/>
          </a:prstGeom>
        </p:spPr>
        <p:txBody>
          <a:bodyPr lIns="0" tIns="0" rIns="0" bIns="0" rtlCol="0" anchor="t">
            <a:spAutoFit/>
          </a:bodyPr>
          <a:lstStyle/>
          <a:p>
            <a:pPr algn="ctr">
              <a:lnSpc>
                <a:spcPts val="6379"/>
              </a:lnSpc>
              <a:spcBef>
                <a:spcPct val="0"/>
              </a:spcBef>
            </a:pPr>
            <a:r>
              <a:rPr lang="en-US" sz="5799">
                <a:solidFill>
                  <a:srgbClr val="000000"/>
                </a:solidFill>
                <a:latin typeface="Georgia Pro"/>
                <a:ea typeface="Georgia Pro"/>
                <a:cs typeface="Georgia Pro"/>
                <a:sym typeface="Georgia Pro"/>
              </a:rPr>
              <a:t>Business Impact</a:t>
            </a:r>
          </a:p>
        </p:txBody>
      </p:sp>
      <p:sp>
        <p:nvSpPr>
          <p:cNvPr id="3" name="TextBox 3"/>
          <p:cNvSpPr txBox="1"/>
          <p:nvPr/>
        </p:nvSpPr>
        <p:spPr>
          <a:xfrm>
            <a:off x="1028700" y="2830031"/>
            <a:ext cx="13611438" cy="3678555"/>
          </a:xfrm>
          <a:prstGeom prst="rect">
            <a:avLst/>
          </a:prstGeom>
        </p:spPr>
        <p:txBody>
          <a:bodyPr lIns="0" tIns="0" rIns="0" bIns="0" rtlCol="0" anchor="t">
            <a:spAutoFit/>
          </a:bodyPr>
          <a:lstStyle/>
          <a:p>
            <a:pPr marL="518160" lvl="1" indent="-259080" algn="l">
              <a:lnSpc>
                <a:spcPts val="2640"/>
              </a:lnSpc>
              <a:buFont typeface="Arial"/>
              <a:buChar char="•"/>
            </a:pPr>
            <a:r>
              <a:rPr lang="en-US" sz="2400" b="1">
                <a:solidFill>
                  <a:srgbClr val="000000"/>
                </a:solidFill>
                <a:latin typeface="Georgia Pro Bold"/>
                <a:ea typeface="Georgia Pro Bold"/>
                <a:cs typeface="Georgia Pro Bold"/>
                <a:sym typeface="Georgia Pro Bold"/>
              </a:rPr>
              <a:t>Increased User Engagement:</a:t>
            </a:r>
            <a:r>
              <a:rPr lang="en-US" sz="2400">
                <a:solidFill>
                  <a:srgbClr val="000000"/>
                </a:solidFill>
                <a:latin typeface="Georgia Pro"/>
                <a:ea typeface="Georgia Pro"/>
                <a:cs typeface="Georgia Pro"/>
                <a:sym typeface="Georgia Pro"/>
              </a:rPr>
              <a:t> Targeted strategies drive higher likes, comments, and content creation.</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Improved User Retention: </a:t>
            </a:r>
            <a:r>
              <a:rPr lang="en-US" sz="2400">
                <a:solidFill>
                  <a:srgbClr val="000000"/>
                </a:solidFill>
                <a:latin typeface="Georgia Pro"/>
                <a:ea typeface="Georgia Pro"/>
                <a:cs typeface="Georgia Pro"/>
                <a:sym typeface="Georgia Pro"/>
              </a:rPr>
              <a:t>Rewarding loyal users and re-engaging inactive users reduces churn.</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Stronger Marketing ROI:</a:t>
            </a:r>
            <a:r>
              <a:rPr lang="en-US" sz="2400">
                <a:solidFill>
                  <a:srgbClr val="000000"/>
                </a:solidFill>
                <a:latin typeface="Georgia Pro"/>
                <a:ea typeface="Georgia Pro"/>
                <a:cs typeface="Georgia Pro"/>
                <a:sym typeface="Georgia Pro"/>
              </a:rPr>
              <a:t> Influencer and hashtag-driven campaigns improve CTR, conversions, and cost efficiency.</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Faster Growth &amp; Acquisition: </a:t>
            </a:r>
            <a:r>
              <a:rPr lang="en-US" sz="2400">
                <a:solidFill>
                  <a:srgbClr val="000000"/>
                </a:solidFill>
                <a:latin typeface="Georgia Pro"/>
                <a:ea typeface="Georgia Pro"/>
                <a:cs typeface="Georgia Pro"/>
                <a:sym typeface="Georgia Pro"/>
              </a:rPr>
              <a:t>High-engagement creators amplify organic reach and attract new users.</a:t>
            </a:r>
          </a:p>
          <a:p>
            <a:pPr marL="518160" lvl="1" indent="-259080" algn="l">
              <a:lnSpc>
                <a:spcPts val="2640"/>
              </a:lnSpc>
              <a:spcBef>
                <a:spcPct val="0"/>
              </a:spcBef>
              <a:buFont typeface="Arial"/>
              <a:buChar char="•"/>
            </a:pPr>
            <a:r>
              <a:rPr lang="en-US" sz="2400" b="1">
                <a:solidFill>
                  <a:srgbClr val="000000"/>
                </a:solidFill>
                <a:latin typeface="Georgia Pro Bold"/>
                <a:ea typeface="Georgia Pro Bold"/>
                <a:cs typeface="Georgia Pro Bold"/>
                <a:sym typeface="Georgia Pro Bold"/>
              </a:rPr>
              <a:t>Data-Driven Decision Making:</a:t>
            </a:r>
            <a:r>
              <a:rPr lang="en-US" sz="2400">
                <a:solidFill>
                  <a:srgbClr val="000000"/>
                </a:solidFill>
                <a:latin typeface="Georgia Pro"/>
                <a:ea typeface="Georgia Pro"/>
                <a:cs typeface="Georgia Pro"/>
                <a:sym typeface="Georgia Pro"/>
              </a:rPr>
              <a:t> Insights enable smarter content, campaign, and budget optimization.</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
        <p:nvSpPr>
          <p:cNvPr id="4" name="TextBox 4"/>
          <p:cNvSpPr txBox="1"/>
          <p:nvPr/>
        </p:nvSpPr>
        <p:spPr>
          <a:xfrm>
            <a:off x="1180921" y="9277350"/>
            <a:ext cx="15672838" cy="344805"/>
          </a:xfrm>
          <a:prstGeom prst="rect">
            <a:avLst/>
          </a:prstGeom>
        </p:spPr>
        <p:txBody>
          <a:bodyPr lIns="0" tIns="0" rIns="0" bIns="0" rtlCol="0" anchor="t">
            <a:spAutoFit/>
          </a:bodyPr>
          <a:lstStyle/>
          <a:p>
            <a:pPr algn="l">
              <a:lnSpc>
                <a:spcPts val="2640"/>
              </a:lnSpc>
              <a:spcBef>
                <a:spcPct val="0"/>
              </a:spcBef>
            </a:pPr>
            <a:r>
              <a:rPr lang="en-US" sz="2400" i="1">
                <a:solidFill>
                  <a:srgbClr val="000000"/>
                </a:solidFill>
                <a:latin typeface="Georgia Pro Italics"/>
                <a:ea typeface="Georgia Pro Italics"/>
                <a:cs typeface="Georgia Pro Italics"/>
                <a:sym typeface="Georgia Pro Italics"/>
              </a:rPr>
              <a:t>Result: Sustainable engagement growth, better marketing efficiency, and long-term platform value.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51384" y="1076325"/>
            <a:ext cx="3640485" cy="835660"/>
          </a:xfrm>
          <a:prstGeom prst="rect">
            <a:avLst/>
          </a:prstGeom>
        </p:spPr>
        <p:txBody>
          <a:bodyPr lIns="0" tIns="0" rIns="0" bIns="0" rtlCol="0" anchor="t">
            <a:spAutoFit/>
          </a:bodyPr>
          <a:lstStyle/>
          <a:p>
            <a:pPr algn="ctr">
              <a:lnSpc>
                <a:spcPts val="6379"/>
              </a:lnSpc>
              <a:spcBef>
                <a:spcPct val="0"/>
              </a:spcBef>
            </a:pPr>
            <a:r>
              <a:rPr lang="en-US" sz="5799">
                <a:solidFill>
                  <a:srgbClr val="000000"/>
                </a:solidFill>
                <a:latin typeface="Georgia Pro"/>
                <a:ea typeface="Georgia Pro"/>
                <a:cs typeface="Georgia Pro"/>
                <a:sym typeface="Georgia Pro"/>
              </a:rPr>
              <a:t>Conclusion</a:t>
            </a:r>
          </a:p>
        </p:txBody>
      </p:sp>
      <p:sp>
        <p:nvSpPr>
          <p:cNvPr id="3" name="TextBox 3"/>
          <p:cNvSpPr txBox="1"/>
          <p:nvPr/>
        </p:nvSpPr>
        <p:spPr>
          <a:xfrm>
            <a:off x="1028700" y="2629860"/>
            <a:ext cx="15995623" cy="2345055"/>
          </a:xfrm>
          <a:prstGeom prst="rect">
            <a:avLst/>
          </a:prstGeom>
        </p:spPr>
        <p:txBody>
          <a:bodyPr lIns="0" tIns="0" rIns="0" bIns="0" rtlCol="0" anchor="t">
            <a:spAutoFit/>
          </a:bodyPr>
          <a:lstStyle/>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User engagement on the platform is driven by a small group of high-value and high-engagement users.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Data analysis enabled clear user segmentation, helping identify influencers, loyal users, and inactive users.</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Hashtag and content insights highlight what resonates most with the audience.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Targeted marketing, creator partnerships, and re-engagement strategies can significantly improve platform performance.</a:t>
            </a:r>
          </a:p>
          <a:p>
            <a:pPr marL="518160" lvl="1" indent="-259080" algn="l">
              <a:lnSpc>
                <a:spcPts val="2640"/>
              </a:lnSpc>
              <a:spcBef>
                <a:spcPct val="0"/>
              </a:spcBef>
              <a:buFont typeface="Arial"/>
              <a:buChar char="•"/>
            </a:pPr>
            <a:r>
              <a:rPr lang="en-US" sz="2400">
                <a:solidFill>
                  <a:srgbClr val="000000"/>
                </a:solidFill>
                <a:latin typeface="Georgia Pro"/>
                <a:ea typeface="Georgia Pro"/>
                <a:cs typeface="Georgia Pro"/>
                <a:sym typeface="Georgia Pro"/>
              </a:rPr>
              <a:t>A data-driven approach ensures scalable growth, stronger retention, and better marketing ROI.</a:t>
            </a:r>
          </a:p>
          <a:p>
            <a:pPr algn="l">
              <a:lnSpc>
                <a:spcPts val="2640"/>
              </a:lnSpc>
              <a:spcBef>
                <a:spcPct val="0"/>
              </a:spcBef>
            </a:pPr>
            <a:endParaRPr lang="en-US" sz="2400">
              <a:solidFill>
                <a:srgbClr val="000000"/>
              </a:solidFill>
              <a:latin typeface="Georgia Pro"/>
              <a:ea typeface="Georgia Pro"/>
              <a:cs typeface="Georgia Pro"/>
              <a:sym typeface="Georgia Pr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20115" y="2207735"/>
            <a:ext cx="14447771" cy="5664200"/>
          </a:xfrm>
          <a:prstGeom prst="rect">
            <a:avLst/>
          </a:prstGeom>
        </p:spPr>
        <p:txBody>
          <a:bodyPr lIns="0" tIns="0" rIns="0" bIns="0" rtlCol="0" anchor="t">
            <a:spAutoFit/>
          </a:bodyPr>
          <a:lstStyle/>
          <a:p>
            <a:pPr algn="ctr">
              <a:lnSpc>
                <a:spcPts val="22000"/>
              </a:lnSpc>
            </a:pPr>
            <a:r>
              <a:rPr lang="en-US" sz="20000" b="1">
                <a:solidFill>
                  <a:srgbClr val="000000"/>
                </a:solidFill>
                <a:latin typeface="Georgia Pro Bold"/>
                <a:ea typeface="Georgia Pro Bold"/>
                <a:cs typeface="Georgia Pro Bold"/>
                <a:sym typeface="Georgia Pro Bold"/>
              </a:rPr>
              <a:t>Thank </a:t>
            </a:r>
          </a:p>
          <a:p>
            <a:pPr algn="ctr">
              <a:lnSpc>
                <a:spcPts val="22000"/>
              </a:lnSpc>
              <a:spcBef>
                <a:spcPct val="0"/>
              </a:spcBef>
            </a:pPr>
            <a:r>
              <a:rPr lang="en-US" sz="20000" b="1">
                <a:solidFill>
                  <a:srgbClr val="000000"/>
                </a:solidFill>
                <a:latin typeface="Georgia Pro Bold"/>
                <a:ea typeface="Georgia Pro Bold"/>
                <a:cs typeface="Georgia Pro Bold"/>
                <a:sym typeface="Georgia Pro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962</Words>
  <Application>Microsoft Office PowerPoint</Application>
  <PresentationFormat>Custom</PresentationFormat>
  <Paragraphs>137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DM Sans</vt:lpstr>
      <vt:lpstr>Arial</vt:lpstr>
      <vt:lpstr>Georgia Pro Light</vt:lpstr>
      <vt:lpstr>Calibri</vt:lpstr>
      <vt:lpstr>DM Sans Bold</vt:lpstr>
      <vt:lpstr>Georgia Pro Italics</vt:lpstr>
      <vt:lpstr>Georgia Pro Bold</vt:lpstr>
      <vt:lpstr>Georgia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Instagram Engagement</dc:title>
  <dc:description>Presentation - Instagram Engagement</dc:description>
  <cp:lastModifiedBy>Sunny Bibyan</cp:lastModifiedBy>
  <cp:revision>2</cp:revision>
  <dcterms:created xsi:type="dcterms:W3CDTF">2006-08-16T00:00:00Z</dcterms:created>
  <dcterms:modified xsi:type="dcterms:W3CDTF">2026-01-06T03:13:30Z</dcterms:modified>
  <dc:identifier>DAG7XwPGX6Q</dc:identifier>
</cp:coreProperties>
</file>